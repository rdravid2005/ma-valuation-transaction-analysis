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ea61d664b64a06" /><Relationship Type="http://schemas.openxmlformats.org/officeDocument/2006/relationships/extended-properties" Target="/docProps/app.xml" Id="R5f70cce06b164524" /><Relationship Type="http://schemas.openxmlformats.org/officeDocument/2006/relationships/officeDocument" Target="/ppt/presentation.xml" Id="R373c5a136af94f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f74ac3295d40d3"/>
  </p:sldMasterIdLst>
  <p:notesMasterIdLst>
    <p:notesMasterId xmlns:r="http://schemas.openxmlformats.org/officeDocument/2006/relationships" r:id="R37dfc2ba7e204b3c"/>
  </p:notesMasterIdLst>
  <p:sldIdLst>
    <p:sldId xmlns:r="http://schemas.openxmlformats.org/officeDocument/2006/relationships" id="256" r:id="R88276b774fc94aa8"/>
    <p:sldId xmlns:r="http://schemas.openxmlformats.org/officeDocument/2006/relationships" id="257" r:id="R24e2fb4574fc43d9"/>
    <p:sldId xmlns:r="http://schemas.openxmlformats.org/officeDocument/2006/relationships" id="258" r:id="Rfb0ba70478354b9c"/>
    <p:sldId xmlns:r="http://schemas.openxmlformats.org/officeDocument/2006/relationships" id="259" r:id="R159506bfecef48c1"/>
    <p:sldId xmlns:r="http://schemas.openxmlformats.org/officeDocument/2006/relationships" id="260" r:id="R9609e6ee5cd04b44"/>
    <p:sldId xmlns:r="http://schemas.openxmlformats.org/officeDocument/2006/relationships" id="261" r:id="Re4de7907e8f04e0e"/>
    <p:sldId xmlns:r="http://schemas.openxmlformats.org/officeDocument/2006/relationships" id="262" r:id="R38d86b95bc444dbe"/>
    <p:sldId xmlns:r="http://schemas.openxmlformats.org/officeDocument/2006/relationships" id="263" r:id="R2e706042cafc485f"/>
    <p:sldId xmlns:r="http://schemas.openxmlformats.org/officeDocument/2006/relationships" id="264" r:id="Rf0cddb406c06459c"/>
    <p:sldId xmlns:r="http://schemas.openxmlformats.org/officeDocument/2006/relationships" id="265" r:id="Ra135e77dee0f4acc"/>
    <p:sldId xmlns:r="http://schemas.openxmlformats.org/officeDocument/2006/relationships" id="266" r:id="Rf986f3db500f41b2"/>
    <p:sldId xmlns:r="http://schemas.openxmlformats.org/officeDocument/2006/relationships" id="267" r:id="R0114988003ab4481"/>
    <p:sldId xmlns:r="http://schemas.openxmlformats.org/officeDocument/2006/relationships" id="268" r:id="R6c631a70083f43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d3899d7024421b" /><Relationship Type="http://schemas.openxmlformats.org/officeDocument/2006/relationships/slideMaster" Target="/ppt/slideMasters/slideMaster1.xml" Id="R83f74ac3295d40d3" /><Relationship Type="http://schemas.openxmlformats.org/officeDocument/2006/relationships/notesMaster" Target="/ppt/notesMasters/notesMaster1.xml" Id="R37dfc2ba7e204b3c" /><Relationship Type="http://schemas.openxmlformats.org/officeDocument/2006/relationships/presProps" Target="/ppt/presProps.xml" Id="Rfe98326177a74871" /><Relationship Type="http://schemas.openxmlformats.org/officeDocument/2006/relationships/tableStyles" Target="/ppt/tableStyles.xml" Id="R5d393d40dbef4c3f" /><Relationship Type="http://schemas.openxmlformats.org/officeDocument/2006/relationships/slide" Target="/ppt/slides/slide1.xml" Id="R88276b774fc94aa8" /><Relationship Type="http://schemas.openxmlformats.org/officeDocument/2006/relationships/slide" Target="/ppt/slides/slide2.xml" Id="R24e2fb4574fc43d9" /><Relationship Type="http://schemas.openxmlformats.org/officeDocument/2006/relationships/slide" Target="/ppt/slides/slide3.xml" Id="Rfb0ba70478354b9c" /><Relationship Type="http://schemas.openxmlformats.org/officeDocument/2006/relationships/slide" Target="/ppt/slides/slide4.xml" Id="R159506bfecef48c1" /><Relationship Type="http://schemas.openxmlformats.org/officeDocument/2006/relationships/slide" Target="/ppt/slides/slide5.xml" Id="R9609e6ee5cd04b44" /><Relationship Type="http://schemas.openxmlformats.org/officeDocument/2006/relationships/slide" Target="/ppt/slides/slide6.xml" Id="Re4de7907e8f04e0e" /><Relationship Type="http://schemas.openxmlformats.org/officeDocument/2006/relationships/slide" Target="/ppt/slides/slide7.xml" Id="R38d86b95bc444dbe" /><Relationship Type="http://schemas.openxmlformats.org/officeDocument/2006/relationships/slide" Target="/ppt/slides/slide8.xml" Id="R2e706042cafc485f" /><Relationship Type="http://schemas.openxmlformats.org/officeDocument/2006/relationships/slide" Target="/ppt/slides/slide9.xml" Id="Rf0cddb406c06459c" /><Relationship Type="http://schemas.openxmlformats.org/officeDocument/2006/relationships/slide" Target="/ppt/slides/slide10.xml" Id="Ra135e77dee0f4acc" /><Relationship Type="http://schemas.openxmlformats.org/officeDocument/2006/relationships/slide" Target="/ppt/slides/slide11.xml" Id="Rf986f3db500f41b2" /><Relationship Type="http://schemas.openxmlformats.org/officeDocument/2006/relationships/slide" Target="/ppt/slides/slide12.xml" Id="R0114988003ab4481" /><Relationship Type="http://schemas.openxmlformats.org/officeDocument/2006/relationships/slide" Target="/ppt/slides/slide13.xml" Id="R6c631a70083f43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0c9639991e49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028a4ac2814dfc" /><Relationship Type="http://schemas.openxmlformats.org/officeDocument/2006/relationships/notesMaster" Target="/ppt/notesMasters/notesMaster1.xml" Id="Rc9afdd5ace5d4c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66f1897dab4032" /><Relationship Type="http://schemas.openxmlformats.org/officeDocument/2006/relationships/notesMaster" Target="/ppt/notesMasters/notesMaster1.xml" Id="Rec01c852004e4e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08fba88eb7450a" /><Relationship Type="http://schemas.openxmlformats.org/officeDocument/2006/relationships/notesMaster" Target="/ppt/notesMasters/notesMaster1.xml" Id="Rf6891f6aed8b47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4fe9addffb47d5" /><Relationship Type="http://schemas.openxmlformats.org/officeDocument/2006/relationships/notesMaster" Target="/ppt/notesMasters/notesMaster1.xml" Id="R73747697698343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ae2dd897474ef8" /><Relationship Type="http://schemas.openxmlformats.org/officeDocument/2006/relationships/notesMaster" Target="/ppt/notesMasters/notesMaster1.xml" Id="Rf0194e12920b4c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5b9de4f0d04daa" /><Relationship Type="http://schemas.openxmlformats.org/officeDocument/2006/relationships/notesMaster" Target="/ppt/notesMasters/notesMaster1.xml" Id="R3e693c79ebf74f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4b3ecee42f45da" /><Relationship Type="http://schemas.openxmlformats.org/officeDocument/2006/relationships/notesMaster" Target="/ppt/notesMasters/notesMaster1.xml" Id="Rb95dbda0565d48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ca678045014cc7" /><Relationship Type="http://schemas.openxmlformats.org/officeDocument/2006/relationships/notesMaster" Target="/ppt/notesMasters/notesMaster1.xml" Id="R3f6baef2982a4e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02f109a0a64ab9" /><Relationship Type="http://schemas.openxmlformats.org/officeDocument/2006/relationships/notesMaster" Target="/ppt/notesMasters/notesMaster1.xml" Id="R736088de28964e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7367425adc457c" /><Relationship Type="http://schemas.openxmlformats.org/officeDocument/2006/relationships/notesMaster" Target="/ppt/notesMasters/notesMaster1.xml" Id="R7d8878c7891c40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087a24fe794d6f" /><Relationship Type="http://schemas.openxmlformats.org/officeDocument/2006/relationships/notesMaster" Target="/ppt/notesMasters/notesMaster1.xml" Id="Ra46b070793f84f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27450253ad468b" /><Relationship Type="http://schemas.openxmlformats.org/officeDocument/2006/relationships/notesMaster" Target="/ppt/notesMasters/notesMaster1.xml" Id="R7594280debd847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ae2f1987a14210" /><Relationship Type="http://schemas.openxmlformats.org/officeDocument/2006/relationships/notesMaster" Target="/ppt/notesMasters/notesMaster1.xml" Id="Rba1007e631b44d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https://www.sec.gov/Archives/edgar/data/1024478/000102447825000116/rok-20250930.htm</a:t>
            </a:r>
          </a:p>
          <a:p xmlns:a="http://schemas.openxmlformats.org/drawingml/2006/main">
            <a:r>
              <a:t>https://www.sec.gov/Archives/edgar/data/851205/000085120526000012/cgnx-20251231.htm</a:t>
            </a:r>
          </a:p>
          <a:p xmlns:a="http://schemas.openxmlformats.org/drawingml/2006/main">
            <a:r>
              <a:t>Internal analysis: MA_Valuation_Model.xlsx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https://www.rockwellautomation.com/en-se/company/news/press-releases/Rockwell-Automation-Reports-Third-Quarter-2026-Results.html</a:t>
            </a:r>
          </a:p>
          <a:p xmlns:a="http://schemas.openxmlformats.org/drawingml/2006/main">
            <a:r>
              <a:t>https://www.sec.gov/Archives/edgar/data/851205/000085120526000061/a07052026-xex991xq22026ear.htm</a:t>
            </a:r>
          </a:p>
          <a:p xmlns:a="http://schemas.openxmlformats.org/drawingml/2006/main">
            <a:r>
              <a:t>Internal analysis: valuation summary, accretion/dilution, synergies, and sensitivities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https://www.sec.gov/Archives/edgar/data/1024478/000102447825000116/rok-20250930.htm</a:t>
            </a:r>
          </a:p>
          <a:p xmlns:a="http://schemas.openxmlformats.org/drawingml/2006/main">
            <a:r>
              <a:t>https://www.sec.gov/Archives/edgar/data/851205/000085120526000012/cgnx-20251231.htm</a:t>
            </a:r>
          </a:p>
          <a:p xmlns:a="http://schemas.openxmlformats.org/drawingml/2006/main">
            <a:r>
              <a:t>Internal analysis: company overview and industry 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https://www.sec.gov/Archives/edgar/data/851205/000085120526000012/cgnx-20251231.htm</a:t>
            </a:r>
          </a:p>
          <a:p xmlns:a="http://schemas.openxmlformats.org/drawingml/2006/main">
            <a:r>
              <a:t>https://www.sec.gov/Archives/edgar/data/851205/000085120526000061/a07052026-xex991xq22026ear.htm</a:t>
            </a:r>
          </a:p>
          <a:p xmlns:a="http://schemas.openxmlformats.org/drawingml/2006/main">
            <a:r>
              <a:t>Internal analysis: CGNX Operating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https://www.sec.gov/Archives/edgar/data/851205/000085120526000061/a07052026-xex991xq22026ear.htm</a:t>
            </a:r>
          </a:p>
          <a:p xmlns:a="http://schemas.openxmlformats.org/drawingml/2006/main">
            <a:r>
              <a:t>Internal analysis: DCF, trading comps, precedent transactions, and valuation 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https://www.sec.gov/Archives/edgar/data/1024478/000102447826000022/rok-20260331.htm</a:t>
            </a:r>
          </a:p>
          <a:p xmlns:a="http://schemas.openxmlformats.org/drawingml/2006/main">
            <a:r>
              <a:t>https://www.sec.gov/Archives/edgar/data/851205/000085120526000061/a07052026-xex991xq22026ear.htm</a:t>
            </a:r>
          </a:p>
          <a:p xmlns:a="http://schemas.openxmlformats.org/drawingml/2006/main">
            <a:r>
              <a:t>Internal analysis: Sources &amp; Uses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https://www.sec.gov/Archives/edgar/data/1024478/000102447826000022/rok-20260331.htm</a:t>
            </a:r>
          </a:p>
          <a:p xmlns:a="http://schemas.openxmlformats.org/drawingml/2006/main">
            <a:r>
              <a:t>Internal analysis: Sources &amp; Uses and purchase price and financing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https://www.sec.gov/Archives/edgar/data/851205/000085120526000061/a07052026-xex991xq22026ear.htm</a:t>
            </a:r>
          </a:p>
          <a:p xmlns:a="http://schemas.openxmlformats.org/drawingml/2006/main">
            <a:r>
              <a:t>Internal analysis: Purchase Accounting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analysis: Accretion Dilution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https://www.sec.gov/Archives/edgar/data/851205/000085120526000061/a07052026-xex991xq22026ear.htm</a:t>
            </a:r>
          </a:p>
          <a:p xmlns:a="http://schemas.openxmlformats.org/drawingml/2006/main">
            <a:r>
              <a:t>Internal analysis: Synergies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analysis: Sensitivities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https://www.sec.gov/Archives/edgar/data/1024478/000102447825000116/rok-20250930.htm</a:t>
            </a:r>
          </a:p>
          <a:p xmlns:a="http://schemas.openxmlformats.org/drawingml/2006/main">
            <a:r>
              <a:t>https://www.sec.gov/Archives/edgar/data/851205/000085120526000012/cgnx-20251231.htm</a:t>
            </a:r>
          </a:p>
          <a:p xmlns:a="http://schemas.openxmlformats.org/drawingml/2006/main">
            <a:r>
              <a:t>Internal analysis: risks and diligence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analysis: complete M&amp;A valuation and transaction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1d3f0587f4d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91a59111c64e07" /><Relationship Type="http://schemas.openxmlformats.org/officeDocument/2006/relationships/slideLayout" Target="/ppt/slideLayouts/slideLayout1.xml" Id="R3282ca38e7db47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82ca38e7db47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384848f9e4820" /><Relationship Type="http://schemas.openxmlformats.org/officeDocument/2006/relationships/notesSlide" Target="/ppt/notesSlides/notesSlide1.xml" Id="Rf14a5892eea149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65069961148b0" /><Relationship Type="http://schemas.openxmlformats.org/officeDocument/2006/relationships/notesSlide" Target="/ppt/notesSlides/notesSlide2.xml" Id="R18443b7fa12040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7e99604d74786" /><Relationship Type="http://schemas.openxmlformats.org/officeDocument/2006/relationships/notesSlide" Target="/ppt/notesSlides/notesSlide3.xml" Id="R9098477d113d44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4ce7476c940be" /><Relationship Type="http://schemas.openxmlformats.org/officeDocument/2006/relationships/chart" Target="/ppt/slides/charts/chart1.xml" Id="Rdeecb8553f0d4bef" /><Relationship Type="http://schemas.openxmlformats.org/officeDocument/2006/relationships/notesSlide" Target="/ppt/notesSlides/notesSlide4.xml" Id="R18969cb4e76c4e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d8be35c40489d" /><Relationship Type="http://schemas.openxmlformats.org/officeDocument/2006/relationships/notesSlide" Target="/ppt/notesSlides/notesSlide5.xml" Id="R1633721bf54046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6ff5ca60c4507" /><Relationship Type="http://schemas.openxmlformats.org/officeDocument/2006/relationships/notesSlide" Target="/ppt/notesSlides/notesSlide6.xml" Id="Rc06ad1282bda41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c935732f84328" /><Relationship Type="http://schemas.openxmlformats.org/officeDocument/2006/relationships/notesSlide" Target="/ppt/notesSlides/notesSlide7.xml" Id="R25e8d8878e884f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b8a6ad9f24b64" /><Relationship Type="http://schemas.openxmlformats.org/officeDocument/2006/relationships/chart" Target="/ppt/slides/charts/chart2.xml" Id="Red3bba2f470c477f" /><Relationship Type="http://schemas.openxmlformats.org/officeDocument/2006/relationships/notesSlide" Target="/ppt/notesSlides/notesSlide8.xml" Id="Ra948477e7da048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2c50496ac42c8" /><Relationship Type="http://schemas.openxmlformats.org/officeDocument/2006/relationships/chart" Target="/ppt/slides/charts/chart3.xml" Id="R348bd2e30229441a" /><Relationship Type="http://schemas.openxmlformats.org/officeDocument/2006/relationships/notesSlide" Target="/ppt/notesSlides/notesSlide9.xml" Id="R3261dafbe20a4b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6e72b58c84874" /><Relationship Type="http://schemas.openxmlformats.org/officeDocument/2006/relationships/chart" Target="/ppt/slides/charts/chart4.xml" Id="R50347d48316a4d5c" /><Relationship Type="http://schemas.openxmlformats.org/officeDocument/2006/relationships/notesSlide" Target="/ppt/notesSlides/notesSlide10.xml" Id="Rbe0016b4def446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99e7e6c8d4240" /><Relationship Type="http://schemas.openxmlformats.org/officeDocument/2006/relationships/notesSlide" Target="/ppt/notesSlides/notesSlide11.xml" Id="R22de7699c22c43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a8d3dee8c49d7" /><Relationship Type="http://schemas.openxmlformats.org/officeDocument/2006/relationships/notesSlide" Target="/ppt/notesSlides/notesSlide12.xml" Id="Re96f732b1e6d4a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c747c2b514cc1" /><Relationship Type="http://schemas.openxmlformats.org/officeDocument/2006/relationships/notesSlide" Target="/ppt/notesSlides/notesSlide13.xml" Id="Rd9cd5555777d49b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 ($mm)</c:v>
          </c:tx>
          <c:spPr>
            <a:solidFill xmlns:a="http://schemas.openxmlformats.org/drawingml/2006/main">
              <a:srgbClr val="1F4E78"/>
            </a:solidFill>
          </c:spPr>
          <c:cat>
            <c:strLit>
              <c:ptCount val="6"/>
              <c:pt idx="0">
                <c:v>2025A</c:v>
              </c:pt>
              <c:pt idx="1">
                <c:v>2026E</c:v>
              </c:pt>
              <c:pt idx="2">
                <c:v>2027E</c:v>
              </c:pt>
              <c:pt idx="3">
                <c:v>2028E</c:v>
              </c:pt>
              <c:pt idx="4">
                <c:v>2029E</c:v>
              </c:pt>
              <c:pt idx="5">
                <c:v>2030E</c:v>
              </c:pt>
            </c:strLit>
          </c:cat>
          <c:val>
            <c:numLit>
              <c:formatCode>$#,##0</c:formatCode>
              <c:ptCount val="6"/>
              <c:pt idx="0">
                <c:v>994</c:v>
              </c:pt>
              <c:pt idx="1">
                <c:v>1140</c:v>
              </c:pt>
              <c:pt idx="2">
                <c:v>1243</c:v>
              </c:pt>
              <c:pt idx="3">
                <c:v>1342</c:v>
              </c:pt>
              <c:pt idx="4">
                <c:v>1436</c:v>
              </c:pt>
              <c:pt idx="5">
                <c:v>1529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365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7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0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Purchase consideration</c:v>
          </c:tx>
          <c:dPt>
            <c:idx val="0"/>
            <c:spPr>
              <a:solidFill xmlns:a="http://schemas.openxmlformats.org/drawingml/2006/main">
                <a:srgbClr val="17365D"/>
              </a:solidFill>
            </c:spPr>
          </c:dPt>
          <c:dPt>
            <c:idx val="1"/>
            <c:spPr>
              <a:solidFill xmlns:a="http://schemas.openxmlformats.org/drawingml/2006/main">
                <a:srgbClr val="1F4E78"/>
              </a:solidFill>
            </c:spPr>
          </c:dPt>
          <c:dPt>
            <c:idx val="2"/>
            <c:spPr>
              <a:solidFill xmlns:a="http://schemas.openxmlformats.org/drawingml/2006/main">
                <a:srgbClr val="D6B656"/>
              </a:solidFill>
            </c:spPr>
          </c:dPt>
          <c:cat>
            <c:strLit>
              <c:ptCount val="3"/>
              <c:pt idx="0">
                <c:v>New goodwill</c:v>
              </c:pt>
              <c:pt idx="1">
                <c:v>Identifiable write-ups</c:v>
              </c:pt>
              <c:pt idx="2">
                <c:v>Tangible book value net of DTL</c:v>
              </c:pt>
            </c:strLit>
          </c:cat>
          <c:val>
            <c:numLit>
              <c:formatCode>General</c:formatCode>
              <c:ptCount val="3"/>
              <c:pt idx="0">
                <c:v>8128</c:v>
              </c:pt>
              <c:pt idx="1">
                <c:v>5249</c:v>
              </c:pt>
              <c:pt idx="2">
                <c:v>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111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58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66666"/>
              </a:solidFill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Including PPA</c:v>
          </c:tx>
          <c:spPr>
            <a:solidFill xmlns:a="http://schemas.openxmlformats.org/drawingml/2006/main">
              <a:srgbClr val="C00000"/>
            </a:solidFill>
          </c:spPr>
          <c:invertIfNegative val="0"/>
          <c:cat>
            <c:strLit>
              <c:ptCount val="4"/>
              <c:pt idx="0">
                <c:v>FY2027E</c:v>
              </c:pt>
              <c:pt idx="1">
                <c:v>FY2028E</c:v>
              </c:pt>
              <c:pt idx="2">
                <c:v>FY2029E</c:v>
              </c:pt>
              <c:pt idx="3">
                <c:v>FY2030E</c:v>
              </c:pt>
            </c:strLit>
          </c:cat>
          <c:val>
            <c:numLit>
              <c:formatCode>0.0%</c:formatCode>
              <c:ptCount val="4"/>
              <c:pt idx="0">
                <c:v>-0.205</c:v>
              </c:pt>
              <c:pt idx="1">
                <c:v>-0.338</c:v>
              </c:pt>
              <c:pt idx="2">
                <c:v>-0.291</c:v>
              </c:pt>
              <c:pt idx="3">
                <c:v>-0.263</c:v>
              </c:pt>
            </c:numLit>
          </c:val>
        </c:ser>
        <c:ser>
          <c:idx val="1"/>
          <c:order val="1"/>
          <c:tx>
            <c:v>Excluding PPA</c:v>
          </c:tx>
          <c:spPr>
            <a:solidFill xmlns:a="http://schemas.openxmlformats.org/drawingml/2006/main">
              <a:srgbClr val="D6B656"/>
            </a:solidFill>
          </c:spPr>
          <c:invertIfNegative val="0"/>
          <c:cat>
            <c:strLit>
              <c:ptCount val="4"/>
              <c:pt idx="0">
                <c:v>FY2027E</c:v>
              </c:pt>
              <c:pt idx="1">
                <c:v>FY2028E</c:v>
              </c:pt>
              <c:pt idx="2">
                <c:v>FY2029E</c:v>
              </c:pt>
              <c:pt idx="3">
                <c:v>FY2030E</c:v>
              </c:pt>
            </c:strLit>
          </c:cat>
          <c:val>
            <c:numLit>
              <c:formatCode>0.0%</c:formatCode>
              <c:ptCount val="4"/>
              <c:pt idx="0">
                <c:v>-0.067</c:v>
              </c:pt>
              <c:pt idx="1">
                <c:v>-0.111</c:v>
              </c:pt>
              <c:pt idx="2">
                <c:v>-0.099</c:v>
              </c:pt>
              <c:pt idx="3">
                <c:v>-0.091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05"/>
          <c:min val="-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66666"/>
              </a:solidFill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FY2030 run-rate ($mm)</c:v>
          </c:tx>
          <c:spPr>
            <a:solidFill xmlns:a="http://schemas.openxmlformats.org/drawingml/2006/main">
              <a:srgbClr val="1F4E78"/>
            </a:solidFill>
          </c:spPr>
          <c:cat>
            <c:strLit>
              <c:ptCount val="7"/>
              <c:pt idx="0">
                <c:v>Corporate G&amp;A</c:v>
              </c:pt>
              <c:pt idx="1">
                <c:v>Sales / channel</c:v>
              </c:pt>
              <c:pt idx="2">
                <c:v>R&amp;D</c:v>
              </c:pt>
              <c:pt idx="3">
                <c:v>Procurement</c:v>
              </c:pt>
              <c:pt idx="4">
                <c:v>Public company</c:v>
              </c:pt>
              <c:pt idx="5">
                <c:v>IT / facilities</c:v>
              </c:pt>
              <c:pt idx="6">
                <c:v>Revenue contribution</c:v>
              </c:pt>
            </c:strLit>
          </c:cat>
          <c:val>
            <c:numLit>
              <c:formatCode>General</c:formatCode>
              <c:ptCount val="7"/>
              <c:pt idx="0">
                <c:v>37.9</c:v>
              </c:pt>
              <c:pt idx="1">
                <c:v>28.4</c:v>
              </c:pt>
              <c:pt idx="2">
                <c:v>5</c:v>
              </c:pt>
              <c:pt idx="3">
                <c:v>7.3</c:v>
              </c:pt>
              <c:pt idx="4">
                <c:v>12</c:v>
              </c:pt>
              <c:pt idx="5">
                <c:v>8</c:v>
              </c:pt>
              <c:pt idx="6">
                <c:v>45.9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365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9F844-66A2-470C-BD24-CA9D17AA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762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656"/>
          </a:solidFill>
          <a:ln xmlns:a="http://schemas.openxmlformats.org/drawingml/2006/main" w="0">
            <a:solidFill>
              <a:srgbClr val="D6B65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C916A-E69D-4011-A4E2-305CA178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Hypothetical Acquisition of Cognex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56530-769A-4273-BA32-3881FBBE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4C7E7"/>
                </a:solidFill>
              </a:defRPr>
            </a:pPr>
            <a:r>
              <a:rPr sz="2625" b="1">
                <a:solidFill>
                  <a:srgbClr val="B4C7E7"/>
                </a:solidFill>
              </a:rPr>
              <a:t>Rockwell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7B681-2223-452B-997F-1BFF6D27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M&amp;A valuation and transaction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D39BE-8F0C-48F9-B54C-98853BAD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2F3"/>
                </a:solidFill>
              </a:defRPr>
            </a:pPr>
            <a:r>
              <a:rPr sz="1350" b="0">
                <a:solidFill>
                  <a:srgbClr val="D9E2F3"/>
                </a:solidFill>
              </a:rPr>
              <a:t>Independent portfolio project | August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6F304-0594-4DAE-ABF2-A61A6990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FBF"/>
                </a:solidFill>
              </a:defRPr>
            </a:pPr>
            <a:r>
              <a:rPr sz="1050" b="0">
                <a:solidFill>
                  <a:srgbClr val="BFBFBF"/>
                </a:solidFill>
              </a:rPr>
              <a:t>Hypothetical and educational only - not affiliated with either company</a:t>
            </a:r>
          </a:p>
        </p:txBody>
      </p:sp>
    </p:spTree>
    <p:extLst>
      <p:ext uri="{BB962C8B-B14F-4D97-AF65-F5344CB8AC3E}">
        <p14:creationId xmlns:p14="http://schemas.microsoft.com/office/powerpoint/2010/main" val="604423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9F812E-0DE0-4A8B-98DB-237FD7C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5BB34-90FA-477C-8B49-EC799F17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The $80 offer is financially demanding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9A70C-64A9-4C61-8BA2-8AD6AE29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03586-B46E-4606-8428-8C6978CC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HYPOTHETICAL / EDUCATIONAL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B4770-5E40-442A-928B-4604D611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60A47-6DF5-4DF6-8059-9728A763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27443-22D7-4F17-8BA9-C73C1C2A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$80.00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D21C2-995D-417E-A122-A7F8B408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Offer price / share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D47D5-9CC0-4402-9F29-24A59809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19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FA8BD-4D55-461F-8F72-4389CBD8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335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33.9%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ABA6C-13D4-4231-9F3C-9742317A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049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Premium to unaffected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B8A09-833C-4C16-9429-5CF95C86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19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DF7D6-68E6-40B0-B574-F2826A82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335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$12.7bn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8D58B-B15A-4A36-B347-92CB0FC9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049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Transaction 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EAF60-14CF-4C1F-857C-2B8DE726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219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40951-DA76-4F93-A5DD-D473DA9F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335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00000"/>
                </a:solidFill>
              </a:defRPr>
            </a:pPr>
            <a:r>
              <a:rPr sz="2100" b="1">
                <a:solidFill>
                  <a:srgbClr val="C00000"/>
                </a:solidFill>
              </a:rPr>
              <a:t>(3.7%)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9794F-A3E9-4881-AA8F-E4A77538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049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FY2030 adjusted dilution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C26AD-86EC-4B08-8F22-3BC56FD5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2192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EDDFD-1EAF-4CC7-85AC-3915E7AB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3335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58.9%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3E744-B7B1-4751-ACCA-8FEA2FCB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0497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Breakeven synergy coverage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F3931-724F-4F5D-8D2A-B1974994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Recommendation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06C58F-68FD-4483-BADB-46ABFADC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8"/>
                </a:solidFill>
              </a:defRPr>
            </a:pPr>
            <a:r>
              <a:rPr sz="150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CF4F5-2925-4B45-BAA5-E4BE0FDB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0401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Cognex adds machine vision, barcode identification, and image-analysis capabilities to Rockwell's automation portfolio.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156B8C-D0A4-48B9-AA42-3CBB4C55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8"/>
                </a:solidFill>
              </a:defRPr>
            </a:pPr>
            <a:r>
              <a:rPr sz="150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C1040-1FEA-40D2-9B63-DC28FBEE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0401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The offer materially exceeds most standalone valuation indications and implies 38.4x FY2026E EBITDA.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9AC6B-D88D-46A3-9357-D4DFFD77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8"/>
                </a:solidFill>
              </a:defRPr>
            </a:pPr>
            <a:r>
              <a:rPr sz="150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79576-6209-4F93-813B-5C8C113E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0401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Bottom-up synergies improve the transaction but do not eliminate adjusted EPS dilution.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F74F5-31EC-4F84-90B4-482168F5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8"/>
                </a:solidFill>
              </a:defRPr>
            </a:pPr>
            <a:r>
              <a:rPr sz="150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52F3E6-E664-4B90-A316-BE7312F4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10401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Proceed only with stronger diligence support, a lower price, or explicit acceptance of near-term dilution for long-term strategic value.</a:t>
            </a:r>
          </a:p>
        </p:txBody>
      </p:sp>
    </p:spTree>
    <p:extLst>
      <p:ext uri="{BB962C8B-B14F-4D97-AF65-F5344CB8AC3E}">
        <p14:creationId xmlns:p14="http://schemas.microsoft.com/office/powerpoint/2010/main" val="100131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50768-3B4F-4099-8DF4-AAE3DEBA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BCFA1-5C79-4CE3-A8AB-E1E3CFBA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Cognex could deepen Rockwell's visual-data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CC169-2E8C-41C0-8FD2-33757446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01DBD-DD7F-4D28-A973-9A162B90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HYPOTHETICAL / EDUCATIONAL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051BC-6DBB-4C7F-858B-31512CB4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91E7A-140E-48DA-90C3-BD18F6A9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Strategic opportunity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2A55F-3E02-4FE8-AC50-7446073E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59303-856D-4DD4-831B-C3722C9A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Add machine-vision sensors, algorithms, and identification tools to Rockwell's control and software ecosystem.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FA02D-6C4F-46BC-BD77-D2E170BE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67F55-E850-4EE7-AEF8-052FE3D4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Use Rockwell's installed base and global channels to expand Cognex customer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52AAB-33CA-470B-968B-4A18DEC4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66D4F-4B5F-4E3C-97D1-9204BA4C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Connect visual inspection data with automation, analytics, and production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B86CF-830F-4679-ADDD-7E70C2C8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65CAD-A870-4086-9C8F-B4BB94F2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Increase exposure to structurally attractive automation and quality-control applications.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8B274-F29C-4359-B341-622EEEE0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38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Key execution tension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5B8BE-1D9B-4D77-9107-62DE455E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81754-E99A-43A0-89D8-004FCDD8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1450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Product overlap could blur positioning and create channel conflict.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01A68D-9F43-424C-956C-99EEF00C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3A22B-2DAA-4FBD-8E0D-C5CD4E33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5745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Aggressive R&amp;D or commercial cost cuts could damage the technology being acquired.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D278B-60DA-41C0-8E0D-6ABEE1C9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5DAE9-8075-45EB-A8BE-034907D4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0040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Revenue synergies depend on customer adoption and sales-force execution.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E9A94C-11E4-4B4D-88FA-FCC8A61E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23BC1-A759-4FE9-8EB1-71519A14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4335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Specialized engineering and commercial talent must be retained.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2F0F8-BAA6-45D1-9E10-C3D8CBAD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D6B6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79CBEB-F4D7-40B7-AD97-51B02E8D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Investment implication: strategic logic alone does not establish the price Rockwell should pay.</a:t>
            </a:r>
          </a:p>
        </p:txBody>
      </p:sp>
    </p:spTree>
    <p:extLst>
      <p:ext uri="{BB962C8B-B14F-4D97-AF65-F5344CB8AC3E}">
        <p14:creationId xmlns:p14="http://schemas.microsoft.com/office/powerpoint/2010/main" val="1181568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37DD7-CDA6-4ADD-BE3D-3EF64592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D396B-D806-45E3-9115-3C8E95FA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Cognex combines renewed growth with expanding margins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97CE7-A82D-450F-9A71-0C5AFA59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0F6CD-A4A9-4791-99F2-86CE96CE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HYPOTHETICAL / EDUCATIONAL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361E9-06A8-49AF-919F-7A6952C4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4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ecb8553f0d4be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6A245-AF92-465A-B508-692132A5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Forecast operating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F56C1-E693-47B4-9C2A-8DE5BB35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BAD34-C4E7-4B92-B33E-C2BD202C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812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14.6%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20793-3F3C-48EC-A708-AD76BA28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526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2026E revenue growth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04F96-CCE3-45D4-802B-D7641C58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BC125-DAD9-4370-91FA-EA8A8C81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718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29.7%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9441B-4FAF-4063-BDC2-83E43CA5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432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2027E EBITDA margin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02E08-D480-45DB-83BB-26C0999D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A5552-8DB9-4FC2-874D-CE9EE057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$481.7mm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D7A51-8961-4A43-8987-E16E3AFB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2030E EBITDA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53122-99DA-4074-A219-24715EB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149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Base forecast assumes growth normalizes while SG&amp;A leverage supports margin expansion.</a:t>
            </a:r>
          </a:p>
        </p:txBody>
      </p:sp>
    </p:spTree>
    <p:extLst>
      <p:ext uri="{BB962C8B-B14F-4D97-AF65-F5344CB8AC3E}">
        <p14:creationId xmlns:p14="http://schemas.microsoft.com/office/powerpoint/2010/main" val="117488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869F4-FA91-43D5-9DD5-72C4DC14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DC1C9-A323-4AFB-A1E4-5940D88D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The $80 offer sits above most standalone valuation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7A398-EC41-4691-B8C1-294912EB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4D548-7493-4A21-BD1E-310E61DE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HYPOTHETICAL / EDUCATIONAL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6DA2A-C00A-4D9A-86E8-BBE5D159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5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238250"/>
                <a:gridCol w="1238250"/>
                <a:gridCol w="1238250"/>
              </a:tblGrid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Midpoint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DCF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$22.95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$25.79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$29.77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Trading - EV / Revenue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$34.75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$39.79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$50.94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Trading - EV / EBITDA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$39.21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$43.14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$51.37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Trading - P / 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$49.89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$54.28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$58.74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Precedent - Premium Paid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$80.49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$84.52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$86.31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Unaffected price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$59.73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$59.73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$59.73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35230-978F-44CE-88C2-F0C4D5DD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6C7C6-668B-4A22-AA55-166A8CE2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383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$40 - $55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61850-6AA0-4878-8434-5063F18D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97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Selected standalone range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8922C-B0A6-449A-A98D-9E835257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29257-4731-4C7A-B25F-77094B0D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$75 - $85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F8771-1D4D-41D7-A3F8-CCBE57AE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146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Illustrative offer range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FABD8-40B2-4BEF-9F08-188EECE0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5A134-A8C5-453A-8BC8-6DDB36A2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33.9%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6BD35-19E3-4F0A-84FF-89A63477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Premium at $80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C30BB-20D8-48D7-A7D4-D7E206A2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Premium-paid precedents support a control-price discussion, but should not be layered mechanically on top of standalone value and full synergies.</a:t>
            </a:r>
          </a:p>
        </p:txBody>
      </p:sp>
    </p:spTree>
    <p:extLst>
      <p:ext uri="{BB962C8B-B14F-4D97-AF65-F5344CB8AC3E}">
        <p14:creationId xmlns:p14="http://schemas.microsoft.com/office/powerpoint/2010/main" val="119492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BF0D6-1D38-4F92-926B-9F2B2760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8CD40-6C45-4B8B-BA36-59941768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Stock consideration limits leverage but creates dilution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3A4D5-A1A7-41F2-94F8-2E69737A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2F876-D250-429D-9EC6-97FABD18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HYPOTHETICAL / EDUCATIONAL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5CEF9-70AB-4717-85A9-F8E3D361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09352-E9DD-4AA4-A87C-B94608D3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03AAD-321A-483D-BCE0-936C450A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$13.46bn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B7F41-1595-4EB8-BD1A-678A9BA2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Equity purchase price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8F68F-C24C-4BDD-840B-C7D50DEC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2573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6393A-407E-46E2-826F-6E63CFA9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716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$12.70bn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93344-C850-48BB-B552-7B8841D7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430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Transaction 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3F507-23C1-4870-9908-C2CCE453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573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1CF98-5BF2-4B76-91A8-BBA1FB01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3716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30% / 70%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1E048-64BF-47D0-A8C4-A29E77D4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430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Cash / stock mix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8CE51-D868-4FF3-A53F-A997050B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E51C2-FC3B-4C5D-9225-7F11E857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716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$4.0bn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1019B-B85B-4DF6-BA5A-54928DCB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New debt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382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190750"/>
                <a:gridCol w="5334000"/>
              </a:tblGrid>
              <a:tr h="47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Illustrative result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New Rockwell shares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21.835mm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Target holders receive combined-company participation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Target-holder ownership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16.3%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Meaningful denominator increase for EPS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Gross leverage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2.93x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Slightly below the model's 3.0x ceiling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Net leverage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2.56x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Includes acquired Cognex cash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Interest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6.87x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Before transaction synergies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316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BB309-2935-45E6-9A1E-08FC9A61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B69E3-E376-43DB-95E0-688B0E6F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Sources and uses balance with $212 million of Rockwell cash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3484E-736F-4225-AEB2-78CECC53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C1709-19A1-4F55-8ABA-1B83EA6E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HYPOTHETICAL / EDUCATIONAL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F69E-B0EA-4BC6-8180-9191B991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6680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809750"/>
                <a:gridCol w="3810000"/>
                <a:gridCol w="1905000"/>
              </a:tblGrid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Uses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$mm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Sources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$mm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Cash consideration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4,037.4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Rockwell cash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212.0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Stock consideration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9,420.5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Term loan / bridge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2,000.0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Transaction fees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134.6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Senior notes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2,000.0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Debt financing fees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40.0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Rockwell equity issued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9,420.5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13,632.5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</a:rPr>
                        <a:t>13,632.5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4CFB1-CF5B-4A40-9FEF-CA9D18C0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A6B9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C8A77-A43C-40C3-AFD6-4606C031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Financing rationale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0ED8A-7377-4A44-9B35-663BDDA6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86325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 large stock component protects liquidity and leverage, but creates persistent share-count dilution. Financing form changes who bears the risk; it does not reduce the price paid.</a:t>
            </a:r>
          </a:p>
        </p:txBody>
      </p:sp>
    </p:spTree>
    <p:extLst>
      <p:ext uri="{BB962C8B-B14F-4D97-AF65-F5344CB8AC3E}">
        <p14:creationId xmlns:p14="http://schemas.microsoft.com/office/powerpoint/2010/main" val="2145509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2AF4C-DFD0-4906-ACC9-8E059EFB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A6564-E861-4ED6-919B-58A08E4B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Purchase accounting creates substantial goodwill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3BF9A-B075-41DB-AF18-3B770E61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72E73-9565-4E50-94A4-601BE228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HYPOTHETICAL / EDUCATIONAL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4BC90-D128-436A-92D8-05E74DB9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8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4762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3bba2f470c477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DE37B-E1E1-482C-8BFE-8AD60747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78907-1760-4788-B929-0CB1E396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430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$8.13bn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FAC0C-D668-4C0B-B926-AEDB938B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145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New goodwill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93807-9FF6-456B-99CA-814D6036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F8FB3-F6D6-40C3-B9CC-E24F0AAE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430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60.4%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64202-7383-47BE-B8BF-2F530EBF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145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Goodwill / consideration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2A5DE-7164-42D6-B38F-85290676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39673-7297-4484-BA02-77FCEA39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$596.3mm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13859-3D94-4DBC-BE98-D56AA11B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575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Annual PPA expense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04778-3578-4111-BCC4-8B5B74E9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385A4-C506-4F5D-8CD6-1B51CB6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860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00000"/>
                </a:solidFill>
              </a:defRPr>
            </a:pPr>
            <a:r>
              <a:rPr sz="2100" b="1">
                <a:solidFill>
                  <a:srgbClr val="C00000"/>
                </a:solidFill>
              </a:rPr>
              <a:t>$235.5mm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3956B-18E1-4E06-927A-BCEAEFBD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575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FY2027 after-tax PPA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BD6C8-CE2A-404A-831A-F0043886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</a:defRPr>
            </a:pPr>
            <a:r>
              <a:rPr sz="135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28B79-60ED-450F-9839-9625D75E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57625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Goodwill is not amortized, but remains subject to impairment testing.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68874-5963-4FBE-8E04-C1D34EED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00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</a:defRPr>
            </a:pPr>
            <a:r>
              <a:rPr sz="135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0F9DB-E48E-41FB-B89E-2DB7C388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0075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Finite-lived customer and technology assets create substantial amortization.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226C5-CBFE-4179-972C-8F2E9C89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625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</a:defRPr>
            </a:pPr>
            <a:r>
              <a:rPr sz="135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F8811-CA76-4CF8-A39C-205CE04F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62525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The allocation is illustrative and would require specialist valuation work.</a:t>
            </a:r>
          </a:p>
        </p:txBody>
      </p:sp>
    </p:spTree>
    <p:extLst>
      <p:ext uri="{BB962C8B-B14F-4D97-AF65-F5344CB8AC3E}">
        <p14:creationId xmlns:p14="http://schemas.microsoft.com/office/powerpoint/2010/main" val="5690984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89DF7-C862-412F-8B91-4CED2FAF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F0FF4-6182-4F4D-93B7-CB409E8E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The transaction remains dilutive before synergies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49058-03B2-4247-9439-3DA32883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2BDC5-22A7-419A-BCE7-847ADAEE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HYPOTHETICAL / EDUCATIONAL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2E865-DDE7-4416-A1EB-DBB5D79D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9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23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8bd2e30229441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968A1-23E7-48BF-9635-F58EFE6E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Why dilution persists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F3E0C-97CE-4E54-A846-BB86D6CB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</a:defRPr>
            </a:pPr>
            <a:r>
              <a:rPr sz="135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9DA52-E7E5-4844-8567-6E167774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52625"/>
            <a:ext cx="2590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Cognex earnings do not offset the new shares issued.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1EB9E-0088-4B32-A915-F8DE9B08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</a:defRPr>
            </a:pPr>
            <a:r>
              <a:rPr sz="135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F75E7-6801-4EAE-82CE-014EC6AA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67000"/>
            <a:ext cx="2590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$4.0bn of acquisition debt creates an after-tax financing burden.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13ECA-7969-4180-B608-33F2BCC6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</a:defRPr>
            </a:pPr>
            <a:r>
              <a:rPr sz="135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3687A-4D88-44CE-8E01-7BCD9ED7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381375"/>
            <a:ext cx="2590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PPA amortization worsens reported EPS but does not explain all dilution.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9402A-3B5E-4CCC-A8AE-9139CF4A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</a:defRPr>
            </a:pPr>
            <a:r>
              <a:rPr sz="135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275CB-6C2D-4AFD-9FCE-C4AD3E50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95750"/>
            <a:ext cx="2590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The $80 price is high relative to target earnings.</a:t>
            </a:r>
          </a:p>
        </p:txBody>
      </p:sp>
    </p:spTree>
    <p:extLst>
      <p:ext uri="{BB962C8B-B14F-4D97-AF65-F5344CB8AC3E}">
        <p14:creationId xmlns:p14="http://schemas.microsoft.com/office/powerpoint/2010/main" val="16148345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73C69-77CB-44A4-AF86-262DF938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1CD82-B236-47B1-ADC7-474DD427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$144 million of synergies does not repair the transaction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233B2-A80D-4A04-AB6B-BCF8D36C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61206-D1C1-46C4-BF95-68109D80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HYPOTHETICAL / EDUCATIONAL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5F3EC-B5A4-4D06-BC1A-B2BE2965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10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6191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347d48316a4d5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F6A4C-C2A6-47AC-A427-06D0DF3E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A8419-4053-4B8C-99AD-598C902E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43050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$98.6mm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09E09-C6A1-4E87-896E-CA35B312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1452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Cost synergy run-rate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7C55B-E52A-413E-8ACA-5F011642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9F217-6DD2-4810-BAC1-794769A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90800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$45.9mm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796FC-C17B-478E-82EA-0C601784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6227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Revenue operating contribution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C7FA7-848A-4B80-B9EB-3BE5260C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408D8-C9A8-4DAB-8E51-457E8FC9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38550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00000"/>
                </a:solidFill>
              </a:defRPr>
            </a:pPr>
            <a:r>
              <a:rPr sz="2100" b="1">
                <a:solidFill>
                  <a:srgbClr val="C00000"/>
                </a:solidFill>
              </a:rPr>
              <a:t>$147.9mm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06DB4-0982-400D-A627-0D7B0849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002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Total integration costs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80079-7A78-4F26-BAC6-CD90F7D3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E8E6E-7B21-4ACD-B32A-D433F230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86300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58.9%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BB08F-2CFF-4779-95FB-7658D9F3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5777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FY2030 breakeven coverage</a:t>
            </a:r>
          </a:p>
        </p:txBody>
      </p:sp>
    </p:spTree>
    <p:extLst>
      <p:ext uri="{BB962C8B-B14F-4D97-AF65-F5344CB8AC3E}">
        <p14:creationId xmlns:p14="http://schemas.microsoft.com/office/powerpoint/2010/main" val="3523334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1F3B7-68C9-44AB-8015-2E1677E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4E621-4008-4FB5-895B-3E78F741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Only the best tested case reaches marginal accretion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30975-4150-43AC-8876-AFDEDE62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704DD-0E2B-488C-887F-577C4EF5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HYPOTHETICAL / EDUCATIONAL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46D73-5CC4-4E13-BF0F-D95B696A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11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047750"/>
                <a:gridCol w="1047750"/>
                <a:gridCol w="1047750"/>
                <a:gridCol w="1047750"/>
                <a:gridCol w="1047750"/>
              </a:tblGrid>
              <a:tr h="555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Offer / synergy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75%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125%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150%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(5.3%)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(4.0%)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(2.6%)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(1.3%)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6100"/>
                          </a:solidFill>
                        </a:rPr>
                        <a:t>0.1%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$78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(5.9%)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(4.5%)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(3.2%)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(1.8%)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(0.5%)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(6.4%)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(5.1%)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(3.7%)</a:t>
                      </a:r>
                    </a:p>
                  </a:txBody>
                  <a:tcPr marL="91440" marR="91440" marT="45720" marB="4572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(2.4%)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(1.1%)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$82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(7.0%)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(5.6%)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(4.3%)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(3.0%)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(1.6%)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$84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(7.5%)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(6.2%)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(4.9%)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(3.5%)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(2.2%)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D61A0-0C37-470E-8972-652DFEEA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Decision implications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E8852-B1E1-4669-89D0-02A678D8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</a:defRPr>
            </a:pPr>
            <a:r>
              <a:rPr sz="135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25A0D-5FE9-4E2E-8189-3B61DE27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00025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Base case: 3.7% adjusted dilution.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5433B-4283-450A-88F6-20979D7E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432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</a:defRPr>
            </a:pPr>
            <a:r>
              <a:rPr sz="135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5DB15-ACC1-4B0B-8E94-300FA544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4320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Best tested case: 0.1% accretion at $76 and 150% synergies.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75A3D-676E-411C-A7C8-9B2F4809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861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</a:defRPr>
            </a:pPr>
            <a:r>
              <a:rPr sz="135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74061-6299-4F9B-8881-86269168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48615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Financing optimization helps but does not make the base offer accretive.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64802-0A8D-4981-80C8-545EC2B8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291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</a:defRPr>
            </a:pPr>
            <a:r>
              <a:rPr sz="1350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A8DB4-A832-4C2D-869F-8246DE1B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22910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Price discipline remains the strongest controllable lever.</a:t>
            </a:r>
          </a:p>
        </p:txBody>
      </p:sp>
    </p:spTree>
    <p:extLst>
      <p:ext uri="{BB962C8B-B14F-4D97-AF65-F5344CB8AC3E}">
        <p14:creationId xmlns:p14="http://schemas.microsoft.com/office/powerpoint/2010/main" val="13995804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0BD09-F9A6-4AA6-B2D9-EC1484F2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1EDFC-8C6D-4EB8-9CBF-5083D82A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Overpayment and synergy execution are the central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94944-9724-4569-8617-C1720B37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77CBE-0A63-46AA-B425-0C0D554C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HYPOTHETICAL / EDUCATIONAL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E3711-CDAA-4564-A80C-4C4C7411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668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190750"/>
                <a:gridCol w="5619750"/>
              </a:tblGrid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Priority risk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Assessment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Required diligence</a:t>
                      </a:r>
                    </a:p>
                  </a:txBody>
                  <a:tcPr marL="91440" marR="91440" marT="45720" marB="45720">
                    <a:solidFill>
                      <a:srgbClr val="1F4E7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Valuation / overpayment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High / High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Set walk-away price; separate base and upside synergies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Persistent dilution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High / High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Test structure, financing, and long-term value creation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Revenue synergies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Med-high / High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Named accounts, pipeline evidence, channel conflict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Technology integration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Medium / High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Roadmap, interoperability, engineering retention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Talent / culture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Med-high / High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Retention packages and operating-model governance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Goodwill impairment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Medium / Med-high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Reporting-unit cash flows and impairment headroom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16982-904C-41B7-B402-E14082E8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D6B6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01541-3B9C-4005-ADDA-D8B871CE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340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Recommendation standard: strategic benefits must be supported by customer-level, product-level, and function-level diligence - not by a top-down synergy plug.</a:t>
            </a:r>
          </a:p>
        </p:txBody>
      </p:sp>
    </p:spTree>
    <p:extLst>
      <p:ext uri="{BB962C8B-B14F-4D97-AF65-F5344CB8AC3E}">
        <p14:creationId xmlns:p14="http://schemas.microsoft.com/office/powerpoint/2010/main" val="9116372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17BF70-FB3F-4E5C-9277-690D37FF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8EE92-3058-445D-95F6-2FD7981D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Rockwell should preserve price discipline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4C35F-04E9-4648-974F-218A1E87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6E418-93CF-4305-9074-9597FBA0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HYPOTHETICAL / EDUCATIONAL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5E871-E8BA-4C19-A4F5-A438E46B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A8B9C-D060-4828-8D3F-0719AC83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Base 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E8321-0B35-445A-831A-B0880AA5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02D64-BCCF-42B2-AE3D-8E5E59C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00000"/>
                </a:solidFill>
              </a:defRPr>
            </a:pPr>
            <a:r>
              <a:rPr sz="1950" b="1">
                <a:solidFill>
                  <a:srgbClr val="C00000"/>
                </a:solidFill>
              </a:rPr>
              <a:t>Do not recommend the $80 offer solely on the current financial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6D7A7-EDFA-4FA3-9CC1-7C45852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Conditions that could support proceeding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5280A-84BF-4891-A92F-4B2B226F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86B3F-BE3C-4559-9F89-522D1AD4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 materially lower negotiated purchase price.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A17CA-2755-4945-B834-2036E136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9649F-E131-42B4-A8AD-B9824612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Customer-backed evidence supporting revenue synergies.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82396-9D6B-4297-A8C3-4706F5E7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88654-BC1E-400A-AA56-1EF084A1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Integration plans that protect product innovation and key talent.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F18F8-9ECE-4CC0-983E-F82A6B65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AB9F3-EA39-4B8E-B37E-7541F9B9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Board acceptance of near-term dilution for defensible long-term strategic value.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7107D-CED0-4FA6-84AE-B2FF9DE7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What the analysis demonstrates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80604D-E04D-4C5A-B237-7F5B605C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3ECAD9-59CF-48DC-9D05-79107AE9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38550"/>
            <a:ext cx="449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Standalone valuation and offer-price framing.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927E7-8097-4DA2-BBEB-531ECAFA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3DC6C-729E-4554-B3B4-61DDD17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9575"/>
            <a:ext cx="449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Sources and uses, financing, and purchase accounting.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FF93E-B5F6-414A-B796-8A32C83D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006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CF35D-66EB-43A4-9D3C-BA7BEDE6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449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Accretion/dilution and breakeven synergies.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7CE3A0-C7A7-4060-9196-6D7271F0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81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8"/>
                </a:solidFill>
              </a:defRPr>
            </a:pPr>
            <a:r>
              <a:rPr sz="1425" b="1">
                <a:solidFill>
                  <a:srgbClr val="1F4E78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E1FDF-0E75-4ABE-8333-858F5419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81625"/>
            <a:ext cx="449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Bottom-up synergy underwriting, sensitivities, and transaction risks.</a:t>
            </a:r>
          </a:p>
        </p:txBody>
      </p:sp>
    </p:spTree>
    <p:extLst>
      <p:ext uri="{BB962C8B-B14F-4D97-AF65-F5344CB8AC3E}">
        <p14:creationId xmlns:p14="http://schemas.microsoft.com/office/powerpoint/2010/main" val="890292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2026-08-22T18:10:22.4040000Z</dcterms:created>
  <dcterms:modified xsi:type="dcterms:W3CDTF">2026-08-22T18:10:22.4040000Z</dcterms:modified>
</coreProperties>
</file>