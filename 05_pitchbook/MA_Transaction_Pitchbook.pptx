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b26a0f0f844cd6" /><Relationship Type="http://schemas.openxmlformats.org/officeDocument/2006/relationships/extended-properties" Target="/docProps/app.xml" Id="R9bdf83971aee4034" /><Relationship Type="http://schemas.openxmlformats.org/officeDocument/2006/relationships/officeDocument" Target="/ppt/presentation.xml" Id="R3bd605fb77f949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f684ea52aa4c07"/>
  </p:sldMasterIdLst>
  <p:notesMasterIdLst>
    <p:notesMasterId xmlns:r="http://schemas.openxmlformats.org/officeDocument/2006/relationships" r:id="Rde4aedaec51a40b7"/>
  </p:notesMasterIdLst>
  <p:sldIdLst>
    <p:sldId xmlns:r="http://schemas.openxmlformats.org/officeDocument/2006/relationships" id="256" r:id="Rbd94f02b281c410f"/>
    <p:sldId xmlns:r="http://schemas.openxmlformats.org/officeDocument/2006/relationships" id="257" r:id="R08ed75a718f14548"/>
    <p:sldId xmlns:r="http://schemas.openxmlformats.org/officeDocument/2006/relationships" id="258" r:id="R5273270073824d39"/>
    <p:sldId xmlns:r="http://schemas.openxmlformats.org/officeDocument/2006/relationships" id="259" r:id="Rb55151dbd97f41e7"/>
    <p:sldId xmlns:r="http://schemas.openxmlformats.org/officeDocument/2006/relationships" id="260" r:id="R2dd4779fa0684a60"/>
    <p:sldId xmlns:r="http://schemas.openxmlformats.org/officeDocument/2006/relationships" id="261" r:id="R4d2780a8812e4ad8"/>
    <p:sldId xmlns:r="http://schemas.openxmlformats.org/officeDocument/2006/relationships" id="262" r:id="R66a24951085d4822"/>
    <p:sldId xmlns:r="http://schemas.openxmlformats.org/officeDocument/2006/relationships" id="263" r:id="Rdecb8c55ea7d4d97"/>
    <p:sldId xmlns:r="http://schemas.openxmlformats.org/officeDocument/2006/relationships" id="264" r:id="R3bc16bfc0e64437d"/>
    <p:sldId xmlns:r="http://schemas.openxmlformats.org/officeDocument/2006/relationships" id="265" r:id="Rfe34a541545d4e5b"/>
    <p:sldId xmlns:r="http://schemas.openxmlformats.org/officeDocument/2006/relationships" id="266" r:id="R5f45236fe74c4d9e"/>
    <p:sldId xmlns:r="http://schemas.openxmlformats.org/officeDocument/2006/relationships" id="267" r:id="Rf4e362b9b60c4002"/>
    <p:sldId xmlns:r="http://schemas.openxmlformats.org/officeDocument/2006/relationships" id="268" r:id="R903c024090434b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2f748030844418" /><Relationship Type="http://schemas.openxmlformats.org/officeDocument/2006/relationships/slideMaster" Target="/ppt/slideMasters/slideMaster1.xml" Id="R8df684ea52aa4c07" /><Relationship Type="http://schemas.openxmlformats.org/officeDocument/2006/relationships/notesMaster" Target="/ppt/notesMasters/notesMaster1.xml" Id="Rde4aedaec51a40b7" /><Relationship Type="http://schemas.openxmlformats.org/officeDocument/2006/relationships/presProps" Target="/ppt/presProps.xml" Id="R212bca6f6a864bdc" /><Relationship Type="http://schemas.openxmlformats.org/officeDocument/2006/relationships/tableStyles" Target="/ppt/tableStyles.xml" Id="Rcc68e46942c84144" /><Relationship Type="http://schemas.openxmlformats.org/officeDocument/2006/relationships/slide" Target="/ppt/slides/slide1.xml" Id="Rbd94f02b281c410f" /><Relationship Type="http://schemas.openxmlformats.org/officeDocument/2006/relationships/slide" Target="/ppt/slides/slide2.xml" Id="R08ed75a718f14548" /><Relationship Type="http://schemas.openxmlformats.org/officeDocument/2006/relationships/slide" Target="/ppt/slides/slide3.xml" Id="R5273270073824d39" /><Relationship Type="http://schemas.openxmlformats.org/officeDocument/2006/relationships/slide" Target="/ppt/slides/slide4.xml" Id="Rb55151dbd97f41e7" /><Relationship Type="http://schemas.openxmlformats.org/officeDocument/2006/relationships/slide" Target="/ppt/slides/slide5.xml" Id="R2dd4779fa0684a60" /><Relationship Type="http://schemas.openxmlformats.org/officeDocument/2006/relationships/slide" Target="/ppt/slides/slide6.xml" Id="R4d2780a8812e4ad8" /><Relationship Type="http://schemas.openxmlformats.org/officeDocument/2006/relationships/slide" Target="/ppt/slides/slide7.xml" Id="R66a24951085d4822" /><Relationship Type="http://schemas.openxmlformats.org/officeDocument/2006/relationships/slide" Target="/ppt/slides/slide8.xml" Id="Rdecb8c55ea7d4d97" /><Relationship Type="http://schemas.openxmlformats.org/officeDocument/2006/relationships/slide" Target="/ppt/slides/slide9.xml" Id="R3bc16bfc0e64437d" /><Relationship Type="http://schemas.openxmlformats.org/officeDocument/2006/relationships/slide" Target="/ppt/slides/slide10.xml" Id="Rfe34a541545d4e5b" /><Relationship Type="http://schemas.openxmlformats.org/officeDocument/2006/relationships/slide" Target="/ppt/slides/slide11.xml" Id="R5f45236fe74c4d9e" /><Relationship Type="http://schemas.openxmlformats.org/officeDocument/2006/relationships/slide" Target="/ppt/slides/slide12.xml" Id="Rf4e362b9b60c4002" /><Relationship Type="http://schemas.openxmlformats.org/officeDocument/2006/relationships/slide" Target="/ppt/slides/slide13.xml" Id="R903c024090434b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6950b434acf46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d2e6a0c3e3434a" /><Relationship Type="http://schemas.openxmlformats.org/officeDocument/2006/relationships/notesMaster" Target="/ppt/notesMasters/notesMaster1.xml" Id="Rf0b5425e14cd473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ba129ba874449b" /><Relationship Type="http://schemas.openxmlformats.org/officeDocument/2006/relationships/notesMaster" Target="/ppt/notesMasters/notesMaster1.xml" Id="Rf74c98b6bfca44f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7b4c290363c40cc" /><Relationship Type="http://schemas.openxmlformats.org/officeDocument/2006/relationships/notesMaster" Target="/ppt/notesMasters/notesMaster1.xml" Id="R6250eca822b94b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ebe24f11944fe2" /><Relationship Type="http://schemas.openxmlformats.org/officeDocument/2006/relationships/notesMaster" Target="/ppt/notesMasters/notesMaster1.xml" Id="R1a8682a5017d43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147bf188484f58" /><Relationship Type="http://schemas.openxmlformats.org/officeDocument/2006/relationships/notesMaster" Target="/ppt/notesMasters/notesMaster1.xml" Id="R40024ef8387a48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fbe29f6fd540e9" /><Relationship Type="http://schemas.openxmlformats.org/officeDocument/2006/relationships/notesMaster" Target="/ppt/notesMasters/notesMaster1.xml" Id="Ra1860507d50041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fc52dd47a54b4a" /><Relationship Type="http://schemas.openxmlformats.org/officeDocument/2006/relationships/notesMaster" Target="/ppt/notesMasters/notesMaster1.xml" Id="R235ab8fb61e241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2f1c1d1bf54e32" /><Relationship Type="http://schemas.openxmlformats.org/officeDocument/2006/relationships/notesMaster" Target="/ppt/notesMasters/notesMaster1.xml" Id="Rf09b414b2a5b4f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4da4ec2d2b4d82" /><Relationship Type="http://schemas.openxmlformats.org/officeDocument/2006/relationships/notesMaster" Target="/ppt/notesMasters/notesMaster1.xml" Id="R187ef74e8be148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05d21bf2e644c6" /><Relationship Type="http://schemas.openxmlformats.org/officeDocument/2006/relationships/notesMaster" Target="/ppt/notesMasters/notesMaster1.xml" Id="Rf60032c2d7994c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40836bf0ccf4926" /><Relationship Type="http://schemas.openxmlformats.org/officeDocument/2006/relationships/notesMaster" Target="/ppt/notesMasters/notesMaster1.xml" Id="R5b731a18bcba49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7e3c1380b34298" /><Relationship Type="http://schemas.openxmlformats.org/officeDocument/2006/relationships/notesMaster" Target="/ppt/notesMasters/notesMaster1.xml" Id="R5b0a9e42b9c74ee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0080dfd3eaa4d74" /><Relationship Type="http://schemas.openxmlformats.org/officeDocument/2006/relationships/notesMaster" Target="/ppt/notesMasters/notesMaster1.xml" Id="Rb59514d8f2f048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https://www.sec.gov/Archives/edgar/data/1024478/000102447825000116/rok-20250930.htm</a:t>
            </a:r>
          </a:p>
          <a:p xmlns:a="http://schemas.openxmlformats.org/drawingml/2006/main">
            <a:r>
              <a:t>https://www.sec.gov/Archives/edgar/data/851205/000085120526000012/cgnx-20251231.htm</a:t>
            </a:r>
          </a:p>
          <a:p xmlns:a="http://schemas.openxmlformats.org/drawingml/2006/main">
            <a:r>
              <a:t>Internal analysis: MA_Valuation_Model.xlsx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https://www.rockwellautomation.com/en-se/company/news/press-releases/Rockwell-Automation-Reports-Third-Quarter-2026-Results.html</a:t>
            </a:r>
          </a:p>
          <a:p xmlns:a="http://schemas.openxmlformats.org/drawingml/2006/main">
            <a:r>
              <a:t>https://www.sec.gov/Archives/edgar/data/851205/000085120526000061/a07052026-xex991xq22026ear.htm</a:t>
            </a:r>
          </a:p>
          <a:p xmlns:a="http://schemas.openxmlformats.org/drawingml/2006/main">
            <a:r>
              <a:t>Internal analysis: valuation summary, accretion/dilution, synergies, and sensitivities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https://www.sec.gov/Archives/edgar/data/1024478/000102447825000116/rok-20250930.htm</a:t>
            </a:r>
          </a:p>
          <a:p xmlns:a="http://schemas.openxmlformats.org/drawingml/2006/main">
            <a:r>
              <a:t>https://www.sec.gov/Archives/edgar/data/851205/000085120526000012/cgnx-20251231.htm</a:t>
            </a:r>
          </a:p>
          <a:p xmlns:a="http://schemas.openxmlformats.org/drawingml/2006/main">
            <a:r>
              <a:t>Internal analysis: company overview and industry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https://www.sec.gov/Archives/edgar/data/851205/000085120526000012/cgnx-20251231.htm</a:t>
            </a:r>
          </a:p>
          <a:p xmlns:a="http://schemas.openxmlformats.org/drawingml/2006/main">
            <a:r>
              <a:t>https://www.sec.gov/Archives/edgar/data/851205/000085120526000061/a07052026-xex991xq22026ear.htm</a:t>
            </a:r>
          </a:p>
          <a:p xmlns:a="http://schemas.openxmlformats.org/drawingml/2006/main">
            <a:r>
              <a:t>Internal analysis: CGNX Operating 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https://www.sec.gov/Archives/edgar/data/851205/000085120526000061/a07052026-xex991xq22026ear.htm</a:t>
            </a:r>
          </a:p>
          <a:p xmlns:a="http://schemas.openxmlformats.org/drawingml/2006/main">
            <a:r>
              <a:t>Internal analysis: DCF, trading comps, precedent transactions, and valuation summary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https://www.sec.gov/Archives/edgar/data/1024478/000102447826000022/rok-20260331.htm</a:t>
            </a:r>
          </a:p>
          <a:p xmlns:a="http://schemas.openxmlformats.org/drawingml/2006/main">
            <a:r>
              <a:t>https://www.sec.gov/Archives/edgar/data/851205/000085120526000061/a07052026-xex991xq22026ear.htm</a:t>
            </a:r>
          </a:p>
          <a:p xmlns:a="http://schemas.openxmlformats.org/drawingml/2006/main">
            <a:r>
              <a:t>Internal analysis: Sources &amp; Uses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https://www.sec.gov/Archives/edgar/data/1024478/000102447826000022/rok-20260331.htm</a:t>
            </a:r>
          </a:p>
          <a:p xmlns:a="http://schemas.openxmlformats.org/drawingml/2006/main">
            <a:r>
              <a:t>Internal analysis: Sources &amp; Uses and purchase price and financing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https://www.sec.gov/Archives/edgar/data/851205/000085120526000061/a07052026-xex991xq22026ear.htm</a:t>
            </a:r>
          </a:p>
          <a:p xmlns:a="http://schemas.openxmlformats.org/drawingml/2006/main">
            <a:r>
              <a:t>Internal analysis: Purchase Accounting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analysis: Accretion Dilution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https://www.sec.gov/Archives/edgar/data/851205/000085120526000061/a07052026-xex991xq22026ear.htm</a:t>
            </a:r>
          </a:p>
          <a:p xmlns:a="http://schemas.openxmlformats.org/drawingml/2006/main">
            <a:r>
              <a:t>Internal analysis: Synergies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analysis: Sensitivities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https://www.sec.gov/Archives/edgar/data/1024478/000102447825000116/rok-20250930.htm</a:t>
            </a:r>
          </a:p>
          <a:p xmlns:a="http://schemas.openxmlformats.org/drawingml/2006/main">
            <a:r>
              <a:t>https://www.sec.gov/Archives/edgar/data/851205/000085120526000012/cgnx-20251231.htm</a:t>
            </a:r>
          </a:p>
          <a:p xmlns:a="http://schemas.openxmlformats.org/drawingml/2006/main">
            <a:r>
              <a:t>Internal analysis: risks and diligence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Internal analysis: complete M&amp;A valuation and transaction model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2290615ffe490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c1deba270442db" /><Relationship Type="http://schemas.openxmlformats.org/officeDocument/2006/relationships/slideLayout" Target="/ppt/slideLayouts/slideLayout1.xml" Id="Rb9c162a8e22342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c162a8e22342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46702ba4d4736" /><Relationship Type="http://schemas.openxmlformats.org/officeDocument/2006/relationships/notesSlide" Target="/ppt/notesSlides/notesSlide1.xml" Id="Rf1699c1e5d614c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3677f581a4f84" /><Relationship Type="http://schemas.openxmlformats.org/officeDocument/2006/relationships/notesSlide" Target="/ppt/notesSlides/notesSlide2.xml" Id="R720b81ae216e47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d3f3698e64063" /><Relationship Type="http://schemas.openxmlformats.org/officeDocument/2006/relationships/notesSlide" Target="/ppt/notesSlides/notesSlide3.xml" Id="R828eecd7370a4b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811d85b41b404c" /><Relationship Type="http://schemas.openxmlformats.org/officeDocument/2006/relationships/chart" Target="/ppt/slides/charts/chart1.xml" Id="R46ff1aa8a1ca4ce5" /><Relationship Type="http://schemas.openxmlformats.org/officeDocument/2006/relationships/notesSlide" Target="/ppt/notesSlides/notesSlide4.xml" Id="Rf0277c4f7b544b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31f4c9cbd44c4" /><Relationship Type="http://schemas.openxmlformats.org/officeDocument/2006/relationships/notesSlide" Target="/ppt/notesSlides/notesSlide5.xml" Id="R13da219a55494b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db2fa64c24cfc" /><Relationship Type="http://schemas.openxmlformats.org/officeDocument/2006/relationships/notesSlide" Target="/ppt/notesSlides/notesSlide6.xml" Id="R0d90272f39e147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b87c200234246" /><Relationship Type="http://schemas.openxmlformats.org/officeDocument/2006/relationships/notesSlide" Target="/ppt/notesSlides/notesSlide7.xml" Id="R949f6eb40af54a0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e8eb6b82524f44" /><Relationship Type="http://schemas.openxmlformats.org/officeDocument/2006/relationships/chart" Target="/ppt/slides/charts/chart2.xml" Id="Rfcc965abc2624a2d" /><Relationship Type="http://schemas.openxmlformats.org/officeDocument/2006/relationships/notesSlide" Target="/ppt/notesSlides/notesSlide8.xml" Id="Ra8251b8ad6324f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bde89115546c2" /><Relationship Type="http://schemas.openxmlformats.org/officeDocument/2006/relationships/chart" Target="/ppt/slides/charts/chart3.xml" Id="R8f64f992cc68470e" /><Relationship Type="http://schemas.openxmlformats.org/officeDocument/2006/relationships/notesSlide" Target="/ppt/notesSlides/notesSlide9.xml" Id="R1639721baf3c46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01ab8b0c74b9d" /><Relationship Type="http://schemas.openxmlformats.org/officeDocument/2006/relationships/chart" Target="/ppt/slides/charts/chart4.xml" Id="R48fbac48fd684694" /><Relationship Type="http://schemas.openxmlformats.org/officeDocument/2006/relationships/notesSlide" Target="/ppt/notesSlides/notesSlide10.xml" Id="R2416cc8174b846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ff7a0856494da0" /><Relationship Type="http://schemas.openxmlformats.org/officeDocument/2006/relationships/notesSlide" Target="/ppt/notesSlides/notesSlide11.xml" Id="Raf099355012c4ac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6de908b4b1485a" /><Relationship Type="http://schemas.openxmlformats.org/officeDocument/2006/relationships/notesSlide" Target="/ppt/notesSlides/notesSlide12.xml" Id="R925d24d87927455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bff9b3e3594ca2" /><Relationship Type="http://schemas.openxmlformats.org/officeDocument/2006/relationships/notesSlide" Target="/ppt/notesSlides/notesSlide13.xml" Id="Rbfdfbf7151344345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Revenue ($mm)</c:v>
          </c:tx>
          <c:spPr>
            <a:solidFill xmlns:a="http://schemas.openxmlformats.org/drawingml/2006/main">
              <a:srgbClr val="1F4E78"/>
            </a:solidFill>
          </c:spPr>
          <c:cat>
            <c:strLit>
              <c:ptCount val="6"/>
              <c:pt idx="0">
                <c:v>2025A</c:v>
              </c:pt>
              <c:pt idx="1">
                <c:v>2026E</c:v>
              </c:pt>
              <c:pt idx="2">
                <c:v>2027E</c:v>
              </c:pt>
              <c:pt idx="3">
                <c:v>2028E</c:v>
              </c:pt>
              <c:pt idx="4">
                <c:v>2029E</c:v>
              </c:pt>
              <c:pt idx="5">
                <c:v>2030E</c:v>
              </c:pt>
            </c:strLit>
          </c:cat>
          <c:val>
            <c:numLit>
              <c:formatCode>$#,##0</c:formatCode>
              <c:ptCount val="6"/>
              <c:pt idx="0">
                <c:v>994</c:v>
              </c:pt>
              <c:pt idx="1">
                <c:v>1140</c:v>
              </c:pt>
              <c:pt idx="2">
                <c:v>1243</c:v>
              </c:pt>
              <c:pt idx="3">
                <c:v>1342</c:v>
              </c:pt>
              <c:pt idx="4">
                <c:v>1436</c:v>
              </c:pt>
              <c:pt idx="5">
                <c:v>1529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365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7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500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doughnutChart>
        <c:ser>
          <c:idx val="0"/>
          <c:order val="0"/>
          <c:tx>
            <c:v>Purchase consideration</c:v>
          </c:tx>
          <c:dPt>
            <c:idx val="0"/>
            <c:spPr>
              <a:solidFill xmlns:a="http://schemas.openxmlformats.org/drawingml/2006/main">
                <a:srgbClr val="17365D"/>
              </a:solidFill>
            </c:spPr>
          </c:dPt>
          <c:dPt>
            <c:idx val="1"/>
            <c:spPr>
              <a:solidFill xmlns:a="http://schemas.openxmlformats.org/drawingml/2006/main">
                <a:srgbClr val="1F4E78"/>
              </a:solidFill>
            </c:spPr>
          </c:dPt>
          <c:dPt>
            <c:idx val="2"/>
            <c:spPr>
              <a:solidFill xmlns:a="http://schemas.openxmlformats.org/drawingml/2006/main">
                <a:srgbClr val="D6B656"/>
              </a:solidFill>
            </c:spPr>
          </c:dPt>
          <c:cat>
            <c:strLit>
              <c:ptCount val="3"/>
              <c:pt idx="0">
                <c:v>New goodwill</c:v>
              </c:pt>
              <c:pt idx="1">
                <c:v>Identifiable write-ups</c:v>
              </c:pt>
              <c:pt idx="2">
                <c:v>Tangible book value net of DTL</c:v>
              </c:pt>
            </c:strLit>
          </c:cat>
          <c:val>
            <c:numLit>
              <c:formatCode>General</c:formatCode>
              <c:ptCount val="3"/>
              <c:pt idx="0">
                <c:v>8128</c:v>
              </c:pt>
              <c:pt idx="1">
                <c:v>5249</c:v>
              </c:pt>
              <c:pt idx="2">
                <c:v>81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11111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0"/>
        </c:dLbls>
        <c:holeSize val="58"/>
      </c:doughnutChart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666666"/>
              </a:solidFill>
            </a:defRPr>
          </a:pPr>
        </a:p>
      </c:txPr>
    </c:legend>
    <c:plotVisOnly val="1"/>
  </c:chart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Including PPA</c:v>
          </c:tx>
          <c:spPr>
            <a:solidFill xmlns:a="http://schemas.openxmlformats.org/drawingml/2006/main">
              <a:srgbClr val="C00000"/>
            </a:solidFill>
          </c:spPr>
          <c:invertIfNegative val="0"/>
          <c:cat>
            <c:strLit>
              <c:ptCount val="4"/>
              <c:pt idx="0">
                <c:v>FY2027E</c:v>
              </c:pt>
              <c:pt idx="1">
                <c:v>FY2028E</c:v>
              </c:pt>
              <c:pt idx="2">
                <c:v>FY2029E</c:v>
              </c:pt>
              <c:pt idx="3">
                <c:v>FY2030E</c:v>
              </c:pt>
            </c:strLit>
          </c:cat>
          <c:val>
            <c:numLit>
              <c:formatCode>0.0%</c:formatCode>
              <c:ptCount val="4"/>
              <c:pt idx="0">
                <c:v>-0.205</c:v>
              </c:pt>
              <c:pt idx="1">
                <c:v>-0.338</c:v>
              </c:pt>
              <c:pt idx="2">
                <c:v>-0.291</c:v>
              </c:pt>
              <c:pt idx="3">
                <c:v>-0.263</c:v>
              </c:pt>
            </c:numLit>
          </c:val>
        </c:ser>
        <c:ser>
          <c:idx val="1"/>
          <c:order val="1"/>
          <c:tx>
            <c:v>Excluding PPA</c:v>
          </c:tx>
          <c:spPr>
            <a:solidFill xmlns:a="http://schemas.openxmlformats.org/drawingml/2006/main">
              <a:srgbClr val="D6B656"/>
            </a:solidFill>
          </c:spPr>
          <c:invertIfNegative val="0"/>
          <c:cat>
            <c:strLit>
              <c:ptCount val="4"/>
              <c:pt idx="0">
                <c:v>FY2027E</c:v>
              </c:pt>
              <c:pt idx="1">
                <c:v>FY2028E</c:v>
              </c:pt>
              <c:pt idx="2">
                <c:v>FY2029E</c:v>
              </c:pt>
              <c:pt idx="3">
                <c:v>FY2030E</c:v>
              </c:pt>
            </c:strLit>
          </c:cat>
          <c:val>
            <c:numLit>
              <c:formatCode>0.0%</c:formatCode>
              <c:ptCount val="4"/>
              <c:pt idx="0">
                <c:v>-0.067</c:v>
              </c:pt>
              <c:pt idx="1">
                <c:v>-0.111</c:v>
              </c:pt>
              <c:pt idx="2">
                <c:v>-0.099</c:v>
              </c:pt>
              <c:pt idx="3">
                <c:v>-0.091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.05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0.1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666666"/>
              </a:solidFill>
            </a:defRPr>
          </a:pPr>
        </a:p>
      </c:txPr>
    </c:legend>
    <c:plotVisOnly val="1"/>
  </c:chart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FY2030 run-rate ($mm)</c:v>
          </c:tx>
          <c:spPr>
            <a:solidFill xmlns:a="http://schemas.openxmlformats.org/drawingml/2006/main">
              <a:srgbClr val="1F4E78"/>
            </a:solidFill>
          </c:spPr>
          <c:cat>
            <c:strLit>
              <c:ptCount val="7"/>
              <c:pt idx="0">
                <c:v>Corporate G&amp;A</c:v>
              </c:pt>
              <c:pt idx="1">
                <c:v>Sales / channel</c:v>
              </c:pt>
              <c:pt idx="2">
                <c:v>R&amp;D</c:v>
              </c:pt>
              <c:pt idx="3">
                <c:v>Procurement</c:v>
              </c:pt>
              <c:pt idx="4">
                <c:v>Public company</c:v>
              </c:pt>
              <c:pt idx="5">
                <c:v>IT / facilities</c:v>
              </c:pt>
              <c:pt idx="6">
                <c:v>Revenue contribution</c:v>
              </c:pt>
            </c:strLit>
          </c:cat>
          <c:val>
            <c:numLit>
              <c:formatCode>General</c:formatCode>
              <c:ptCount val="7"/>
              <c:pt idx="0">
                <c:v>37.9</c:v>
              </c:pt>
              <c:pt idx="1">
                <c:v>28.4</c:v>
              </c:pt>
              <c:pt idx="2">
                <c:v>5</c:v>
              </c:pt>
              <c:pt idx="3">
                <c:v>7.3</c:v>
              </c:pt>
              <c:pt idx="4">
                <c:v>12</c:v>
              </c:pt>
              <c:pt idx="5">
                <c:v>8</c:v>
              </c:pt>
              <c:pt idx="6">
                <c:v>45.9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7365D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9D9D9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65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D95A0C-4CE9-431B-A8EE-308E66D6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23900"/>
            <a:ext cx="7620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B656"/>
          </a:solidFill>
          <a:ln xmlns:a="http://schemas.openxmlformats.org/drawingml/2006/main" w="0">
            <a:solidFill>
              <a:srgbClr val="D6B65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740F4-C106-40FE-90E7-3A6E538DF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428750"/>
            <a:ext cx="9525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Hypothetical Acquisition of Cognex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B9693B-34A6-4E43-943C-91953D11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33625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4C7E7"/>
                </a:solidFill>
              </a:defRPr>
            </a:pPr>
            <a:r>
              <a:rPr sz="2625" b="1">
                <a:solidFill>
                  <a:srgbClr val="B4C7E7"/>
                </a:solidFill>
              </a:rPr>
              <a:t>Rockwell Automation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BBB31-1EE4-4578-ABEE-480158D4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M&amp;A valuation and transaction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D48DD-43AB-4E07-8591-6AD8B013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F3"/>
                </a:solidFill>
              </a:defRPr>
            </a:pPr>
            <a:r>
              <a:rPr sz="1350" b="0">
                <a:solidFill>
                  <a:srgbClr val="D9E2F3"/>
                </a:solidFill>
              </a:rPr>
              <a:t>Independent portfolio project | August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48124D-CB5F-4FBA-BC8C-98D0626FF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962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BFBFBF"/>
                </a:solidFill>
              </a:defRPr>
            </a:pPr>
            <a:r>
              <a:rPr sz="1050" b="0">
                <a:solidFill>
                  <a:srgbClr val="BFBFBF"/>
                </a:solidFill>
              </a:rPr>
              <a:t>Hypothetical and educational only - not affiliated with either company</a:t>
            </a:r>
          </a:p>
        </p:txBody>
      </p:sp>
    </p:spTree>
    <p:extLst>
      <p:ext uri="{BB962C8B-B14F-4D97-AF65-F5344CB8AC3E}">
        <p14:creationId xmlns:p14="http://schemas.microsoft.com/office/powerpoint/2010/main" val="15479017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0D1667-F49E-442E-B8B8-5F18A855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3C2A9-8B9D-4DF7-BD0D-495B6409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The $80 offer is financially demanding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87781-F042-4E80-9798-22E4C8F6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D5360E-9B1C-4EB4-A98F-9A9A4A45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5E1CD-7048-4DEF-9FB0-1CC2E958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21032-3CC1-4A14-B4A8-22A59E07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D6774-4055-4FF8-9209-140BD3EB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771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$80.00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A410C5-155B-4D22-9B56-E92EC5880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0497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Offer price / share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293D31-95F1-4058-AB7C-8E90A822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21920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75D2A4-36A4-4E9C-A1BA-17E5846C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333500"/>
            <a:ext cx="1771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33.9%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BA6B5-F5A3-4434-98C3-02B6B1FE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0497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Premium to unaffected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394ECE-D0EB-4EEF-BB6D-79EF4B05E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21920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CE754A-318E-41C8-B703-9BFA65B3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333500"/>
            <a:ext cx="1771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$12.7bn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DBC048-8788-4649-B6E3-923449EF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0497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Transaction 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D215D-730A-40BF-8189-2040414B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219200"/>
            <a:ext cx="200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4D6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245D86-AA77-4091-AC56-E7760F06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333500"/>
            <a:ext cx="1771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00000"/>
                </a:solidFill>
              </a:defRPr>
            </a:pPr>
            <a:r>
              <a:rPr sz="2100" b="1">
                <a:solidFill>
                  <a:srgbClr val="C00000"/>
                </a:solidFill>
              </a:rPr>
              <a:t>(3.7%)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AB0A19-4B9C-4658-B764-A6513884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704975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FY2030 adjusted dilution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C9B966-05FD-439E-B4F6-7023D506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219200"/>
            <a:ext cx="219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438D42-5A41-4A7F-BB51-91CA62BE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333500"/>
            <a:ext cx="1962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58.9%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8F4A7B-20F5-4224-B681-FC9C9704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1704975"/>
            <a:ext cx="1962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Breakeven synergy coverage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8A11D5-30A5-4733-A8D9-8184614A7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65D"/>
                </a:solidFill>
              </a:defRPr>
            </a:pPr>
            <a:r>
              <a:rPr sz="1800" b="1">
                <a:solidFill>
                  <a:srgbClr val="17365D"/>
                </a:solidFill>
              </a:rPr>
              <a:t>Recommendation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941784-0CC1-4624-ADBA-2FECE283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4E78"/>
                </a:solidFill>
              </a:defRPr>
            </a:pPr>
            <a:r>
              <a:rPr sz="150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6F5B4D-8355-4066-BF43-3E9721D8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104013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Cognex adds machine vision, barcode identification, and image-analysis capabilities to Rockwell's automation portfolio.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40AA62-DA4F-4039-BA06-C4A194CE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4E78"/>
                </a:solidFill>
              </a:defRPr>
            </a:pPr>
            <a:r>
              <a:rPr sz="150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D5BD42-AF00-4549-8F9D-CE2477E4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04013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The offer materially exceeds most standalone valuation indications and implies 38.4x FY2026E EBITDA.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6BBADB-A35F-49A0-8D94-01124A52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4E78"/>
                </a:solidFill>
              </a:defRPr>
            </a:pPr>
            <a:r>
              <a:rPr sz="150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9C4E1F-2493-4506-A485-F99246D8A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04013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Bottom-up synergies improve the transaction but do not eliminate adjusted EPS dilution.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B19996-E8B1-4FAD-8D5E-E608EFAA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4E78"/>
                </a:solidFill>
              </a:defRPr>
            </a:pPr>
            <a:r>
              <a:rPr sz="150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E29199-6864-4AFA-8A01-96BD34BB7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52975"/>
            <a:ext cx="104013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Proceed only with stronger diligence support, a lower price, or explicit acceptance of near-term dilution for long-term strategic value.</a:t>
            </a:r>
          </a:p>
        </p:txBody>
      </p:sp>
    </p:spTree>
    <p:extLst>
      <p:ext uri="{BB962C8B-B14F-4D97-AF65-F5344CB8AC3E}">
        <p14:creationId xmlns:p14="http://schemas.microsoft.com/office/powerpoint/2010/main" val="13756066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E77144-1978-4AD1-89F6-7C93A814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D2E38-2A7F-49F8-BD4E-92AD1A2B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Cognex could deepen Rockwell's visual-data capabilities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265E69-DA06-410E-B3B8-4396E1427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EA832A-A4A9-4C7D-B2B7-A3BBC01F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AB6744-C751-4245-B49E-CBD16ABDD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0022E-D535-4ECA-884B-ADE20AF1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65D"/>
                </a:solidFill>
              </a:defRPr>
            </a:pPr>
            <a:r>
              <a:rPr sz="1800" b="1">
                <a:solidFill>
                  <a:srgbClr val="17365D"/>
                </a:solidFill>
              </a:rPr>
              <a:t>Strategic opportunity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824D35-33D7-48D2-986D-19D6B2F0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80297-0B3D-455C-948E-B003D613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4686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Add machine-vision sensors, algorithms, and identification tools to Rockwell's control and software ecosystem.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6C121-AFE9-480F-8C66-342FC148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9C60C3-E075-458A-99C0-622B22E4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4686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Use Rockwell's installed base and global channels to expand Cognex customer access.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E6070F-4592-4DCE-99B9-F252D239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D2C63A-B3F3-4D7B-80FD-0659B518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4686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Connect visual inspection data with automation, analytics, and production workflows.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4C505-BF68-4F25-A693-B2A75258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66E88C-AA9D-45CF-AFEB-B2ED682CE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4686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Increase exposure to structurally attractive automation and quality-control applications.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40419A-A2E0-4EAF-9C7A-B19A6A761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382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65D"/>
                </a:solidFill>
              </a:defRPr>
            </a:pPr>
            <a:r>
              <a:rPr sz="1800" b="1">
                <a:solidFill>
                  <a:srgbClr val="17365D"/>
                </a:solidFill>
              </a:rPr>
              <a:t>Key execution tension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FDF803-B9AA-4D18-A69F-A7D944AD9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145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5A9F34-81F1-4583-9C57-8B348A5A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14500"/>
            <a:ext cx="4686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Product overlap could blur positioning and create channel conflict.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6686DD-5451-4A3C-BE61-36A9728B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574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2D838D-78D9-4F21-88B0-B1B768E2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457450"/>
            <a:ext cx="4686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Aggressive R&amp;D or commercial cost cuts could damage the technology being acquired.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00B86A-17A8-48E3-8C1A-7B8E2C67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004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B400D5-1023-4771-B669-DC9B99C1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00400"/>
            <a:ext cx="4686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Revenue synergies depend on customer adoption and sales-force execution.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AFCBFE-19E1-4720-8A15-DBD798D6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5F2FA4-4B7F-469B-BAB2-FFCD39D9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43350"/>
            <a:ext cx="46863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Specialized engineering and commercial talent must be retained.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B694A2-E3FB-4EA4-8B4F-C95FF1A7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66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D6B65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620576-99F0-4FA3-9F41-3007E75C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2925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7365D"/>
                </a:solidFill>
              </a:defRPr>
            </a:pPr>
            <a:r>
              <a:rPr sz="1650" b="1">
                <a:solidFill>
                  <a:srgbClr val="17365D"/>
                </a:solidFill>
              </a:rPr>
              <a:t>Investment implication: strategic logic alone does not establish the price Rockwell should pay.</a:t>
            </a:r>
          </a:p>
        </p:txBody>
      </p:sp>
    </p:spTree>
    <p:extLst>
      <p:ext uri="{BB962C8B-B14F-4D97-AF65-F5344CB8AC3E}">
        <p14:creationId xmlns:p14="http://schemas.microsoft.com/office/powerpoint/2010/main" val="18927662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EF252E-D2DF-4C1F-A60C-8FE11B3DD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8E46E-9906-47F1-8A32-5B8ED510A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Cognex combines renewed growth with expanding margins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9F5427-BFC9-4C13-919C-C7DAF5F2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B0932-1ECD-4F6B-A354-200F34D9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2CB57-1567-4F44-8B19-9892B3FA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4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09600" y="1352550"/>
          <a:ext xmlns:a="http://schemas.openxmlformats.org/drawingml/2006/main" cx="6667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ff1aa8a1ca4ce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AF1654-6E69-4742-8F83-81ED69D0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335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65D"/>
                </a:solidFill>
              </a:defRPr>
            </a:pPr>
            <a:r>
              <a:rPr sz="1800" b="1">
                <a:solidFill>
                  <a:srgbClr val="17365D"/>
                </a:solidFill>
              </a:rPr>
              <a:t>Forecast operating profile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2D29C6-69FD-4F2E-9C8A-088800E4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66900"/>
            <a:ext cx="3143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F45093-85FF-4AAA-9B35-2054CC32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9812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14.6%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C50885-0268-4ECF-915E-FEB73A43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352675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2026E revenue growth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B0690F-A1F3-460C-80DB-38B647D3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57500"/>
            <a:ext cx="3143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C01C11-FBD7-404D-8E6E-5F55B207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9718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29.7%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466DFD-3A6D-463E-B6A0-D3C6592A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43275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2027E EBITDA margin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1428C4-69C4-4BA5-B944-C710EF8D3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48100"/>
            <a:ext cx="3143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C13A10-2615-40CB-8240-222A7F9A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962400"/>
            <a:ext cx="2914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$481.7mm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6175BD-0C33-4134-9A27-5E3BA892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333875"/>
            <a:ext cx="2914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2030E EBITDA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64B9BD-2C73-4FC8-974D-D4837403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149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Base forecast assumes growth normalizes while SG&amp;A leverage supports margin expansion.</a:t>
            </a:r>
          </a:p>
        </p:txBody>
      </p:sp>
    </p:spTree>
    <p:extLst>
      <p:ext uri="{BB962C8B-B14F-4D97-AF65-F5344CB8AC3E}">
        <p14:creationId xmlns:p14="http://schemas.microsoft.com/office/powerpoint/2010/main" val="1579262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5743D2-59A9-408B-A3FD-4FA15AD9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7816D9-5413-4260-8F60-7905A0F9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The $80 offer sits above most standalone valuation methods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DAF41-910B-4054-9004-AB131DB7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588002-2A4D-468F-B1DC-0143CB76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52928-F4BB-47B5-A2FE-AE257E97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5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609600" y="1390650"/>
          <a:ext xmlns:a="http://schemas.openxmlformats.org/drawingml/2006/main" cx="66675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238250"/>
                <a:gridCol w="1238250"/>
                <a:gridCol w="1238250"/>
              </a:tblGrid>
              <a:tr h="53067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Low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Midpoint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DCF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$22.95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$25.79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$29.77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Trading - EV / Revenue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$34.75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$39.79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$50.94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Trading - EV / EBITDA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$39.21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$43.14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$51.37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Trading - P / E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$49.89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$54.28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$58.74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Precedent - Premium Paid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$80.49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$84.52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$86.31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Unaffected price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$59.73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$59.73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$59.73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3022F-71D0-4824-9EE9-149B6995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24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D7EA50-4FF8-4D1C-B0C4-4230182B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3830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$40 - $55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61A78-2DBD-45F9-9A87-1BEB45FC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9775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Selected standalone range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C3E843-EA2B-4316-8BCA-C92C577C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289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EC0622-35A9-4170-896A-B682471F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4320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$75 - $85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6359C-86C3-4B6E-81CD-82E991B8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14675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Illustrative offer range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F9E12F-6B4F-417A-AC96-7D34AA15B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338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99AC27-C9C9-4C39-B318-4FEFC38D9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848100"/>
            <a:ext cx="300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33.9%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4D3EC9-51D4-4A35-9A69-BCD6FFE9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219575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Premium at $80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F98EDE-4BBE-4931-A7F2-394E8953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76800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</a:defRPr>
            </a:pPr>
            <a:r>
              <a:rPr sz="1200" b="0">
                <a:solidFill>
                  <a:srgbClr val="666666"/>
                </a:solidFill>
              </a:rPr>
              <a:t>Premium-paid precedents support a control-price discussion, but should not be layered mechanically on top of standalone value and full synergies.</a:t>
            </a:r>
          </a:p>
        </p:txBody>
      </p:sp>
    </p:spTree>
    <p:extLst>
      <p:ext uri="{BB962C8B-B14F-4D97-AF65-F5344CB8AC3E}">
        <p14:creationId xmlns:p14="http://schemas.microsoft.com/office/powerpoint/2010/main" val="14387623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4BE940-A7B1-4A6D-808C-BFA11B3AF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9DC963-1CCE-46FA-A9A4-C91D856F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Stock consideration limits leverage but creates dilution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E28A2-F3E9-46D0-99F7-37B9EC57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44608-5609-4928-A77F-9007FECE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50539-168B-49CA-9A7E-E20FD802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C2B2B-B631-4203-815B-8EDF39F9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2C2550-43B7-4ED3-97CB-0F9A0F60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716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$13.46bn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D4228D-73D3-4CA2-9800-E77110ED8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Equity purchase price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42C87-66A8-4C5D-A01C-5F4CA5A9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2573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FC1C34-17B1-41D4-8554-55E947A4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3716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$12.70bn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B3DA2B-05CE-4BF2-8DFE-5A20E90E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743075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Transaction EV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1A434-DEC8-4FFA-A21A-58CDC816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2573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4D50A-101C-4CCE-83F4-6FC72693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3716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30% / 70%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B294C3-53F0-47D1-8CF4-EB4FE98D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43075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Cash / stock mix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51D228-4E32-4B12-A60E-73EF4646D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25730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89FDC8-AB3F-456F-B16C-DD761776E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3716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$4.0bn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E83B01-B2B9-4C6C-B473-90C8ABF5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43075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New debt</a:t>
            </a:r>
          </a:p>
        </p:txBody>
      </p:sp>
      <p:graphicFrame>
        <p:nvGraphicFramePr>
          <p:cNvPr id="36" name=""/>
          <p:cNvGraphicFramePr/>
          <p:nvPr/>
        </p:nvGraphicFramePr>
        <p:xfrm>
          <a:off xmlns:a="http://schemas.openxmlformats.org/drawingml/2006/main" x="609600" y="2571750"/>
          <a:ext xmlns:a="http://schemas.openxmlformats.org/drawingml/2006/main" cx="1038225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190750"/>
                <a:gridCol w="5334000"/>
              </a:tblGrid>
              <a:tr h="4762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Illustrative result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New Rockwell shares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21.835mm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Target holders receive combined-company participation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Target-holder ownership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16.3%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Meaningful denominator increase for EPS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Gross leverage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2.93x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Slightly below the model's 3.0x ceiling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Net leverage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2.56x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Includes acquired Cognex cash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Interest coverage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6.87x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Before transaction synergies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48285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6345EB-8B45-472C-AE99-51AE6436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EB7AD-9DE6-4894-BBDC-019E5D6EF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Sources and uses balance with $212 million of Rockwell cash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5F3E5F-981A-47AC-BB07-99D24F7E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68023C-2926-4F57-BB90-71C711C46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68AF5A-AE41-4115-A986-1F2182FB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7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668000" cy="3028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1809750"/>
                <a:gridCol w="3810000"/>
                <a:gridCol w="1905000"/>
              </a:tblGrid>
              <a:tr h="50482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Uses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$mm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Sources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$mm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Cash consideration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4,037.4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Rockwell cash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212.0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Stock consideration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9,420.5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Term loan / bridge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2,000.0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Transaction fees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134.6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Senior notes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2,000.0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Debt financing fees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40.0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Rockwell equity issued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9,420.5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Total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13,632.5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Total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11111"/>
                          </a:solidFill>
                        </a:rPr>
                        <a:t>13,632.5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C8B123-E932-434A-9749-852D33F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66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A6B9C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7D4AB-3AE0-4CE3-9FE5-C3B60718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65D"/>
                </a:solidFill>
              </a:defRPr>
            </a:pPr>
            <a:r>
              <a:rPr sz="1650" b="1">
                <a:solidFill>
                  <a:srgbClr val="17365D"/>
                </a:solidFill>
              </a:rPr>
              <a:t>Financing rationale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FAD478-3B45-47C9-ACD1-ED94CAD3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86325"/>
            <a:ext cx="762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A large stock component protects liquidity and leverage, but creates persistent share-count dilution. Financing form changes who bears the risk; it does not reduce the price paid.</a:t>
            </a:r>
          </a:p>
        </p:txBody>
      </p:sp>
    </p:spTree>
    <p:extLst>
      <p:ext uri="{BB962C8B-B14F-4D97-AF65-F5344CB8AC3E}">
        <p14:creationId xmlns:p14="http://schemas.microsoft.com/office/powerpoint/2010/main" val="6398882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1B4CE2-A145-44DD-BB4B-96AA2A31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F0210A-56FA-4FD3-BA86-AA2EE83C4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Purchase accounting creates substantial goodwill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0B78E8-8A99-4024-937E-45CFD122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56AA4-E592-4B7C-AFBC-8100411E7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3EA5B-5FBD-470B-8C87-4921F3861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8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47625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c965abc2624a2d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E16F02-BC7E-4728-86CE-8869576FA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FBA05-16A4-4746-8C3A-DBC8711E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5430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$8.13bn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D7A35-947F-440E-AB9C-D93C3F45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14525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New goodwill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F82608-5522-4417-BEFD-41972E2D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287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3946FB-FB9D-4D82-A971-90B9113E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5430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60.4%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0E3741-0FD3-4AE0-AE9C-5070534D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14525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Goodwill / consideration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9F37A1-1139-4092-8AC9-554CC645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B678A3-2037-4D78-AA87-FE1ACC25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860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$596.3mm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ADE060-A666-458B-9FA3-F2D2536B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057525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Annual PPA expense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15E624-04BD-40E9-8335-66E6CC64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5717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4D6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7D04A-CF7B-4D0A-A235-2E724DC8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8605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00000"/>
                </a:solidFill>
              </a:defRPr>
            </a:pPr>
            <a:r>
              <a:rPr sz="2100" b="1">
                <a:solidFill>
                  <a:srgbClr val="C00000"/>
                </a:solidFill>
              </a:rPr>
              <a:t>$235.5mm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66D58E-BF64-44C6-87FA-A2F3E6D0B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57525"/>
            <a:ext cx="2152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FY2027 after-tax PPA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AAE324-D02F-4006-B954-B62F65FE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576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8A0F48-DC6F-4339-9508-E6893C72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857625"/>
            <a:ext cx="4686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Goodwill is not amortized, but remains subject to impairment testing.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E99EDF-AC14-4AF4-9851-37A41FAE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1007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9462D3-CF35-4E91-B58F-503595FE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410075"/>
            <a:ext cx="4686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Finite-lived customer and technology assets create substantial amortization.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F59699-04B3-4587-946C-00FADCED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625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A8A71F-B995-4F0D-A3EA-3B0179EE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962525"/>
            <a:ext cx="4686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The allocation is illustrative and would require specialist valuation work.</a:t>
            </a:r>
          </a:p>
        </p:txBody>
      </p:sp>
    </p:spTree>
    <p:extLst>
      <p:ext uri="{BB962C8B-B14F-4D97-AF65-F5344CB8AC3E}">
        <p14:creationId xmlns:p14="http://schemas.microsoft.com/office/powerpoint/2010/main" val="6803564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3B9B8F-9178-460A-BE4D-3A2A3060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EEA9B-9F56-4B6F-87FA-DB9A9232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The transaction remains dilutive before synergies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8C8194-6D66-467E-A150-542614B4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63C8E-E7D8-43A9-A20E-083A9CE4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B05EF-28C3-4C5F-8FFB-03230B36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9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723900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f64f992cc68470e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AFCD73-8563-4BD6-AC47-DF3012D4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28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65D"/>
                </a:solidFill>
              </a:defRPr>
            </a:pPr>
            <a:r>
              <a:rPr sz="1800" b="1">
                <a:solidFill>
                  <a:srgbClr val="17365D"/>
                </a:solidFill>
              </a:rPr>
              <a:t>Why dilution persists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890D2A-0901-4F21-AD46-68309378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9526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D9F831-C671-4FFB-80A6-0426F241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952625"/>
            <a:ext cx="2590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Cognex earnings do not offset the new shares issued.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88B34-A3A0-45E0-8F06-7C4DF18B1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670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3DE1E-CF0A-4FB5-8F26-C65EE37D6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667000"/>
            <a:ext cx="2590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$4.0bn of acquisition debt creates an after-tax financing burden.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DDCF6E-06F8-4956-B3C5-643D1E61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8137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B73CF0-7AAE-46D7-9712-ABD487D6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381375"/>
            <a:ext cx="2590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PPA amortization worsens EPS including PPA but does not explain all dilution.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A8B70-5B7B-45D9-A044-8BB48502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957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662713-40BB-42E7-8C3C-C792E3669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095750"/>
            <a:ext cx="2590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The $80 price is high relative to target earnings.</a:t>
            </a:r>
          </a:p>
        </p:txBody>
      </p:sp>
    </p:spTree>
    <p:extLst>
      <p:ext uri="{BB962C8B-B14F-4D97-AF65-F5344CB8AC3E}">
        <p14:creationId xmlns:p14="http://schemas.microsoft.com/office/powerpoint/2010/main" val="21182107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4CF04C-494E-433B-B131-54E83BD0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527FE-4562-4F6E-85EF-8B29EE480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$144 million of synergies does not repair the transaction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39AAC-15FF-4B35-BA32-C4B1FBFCE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AFC25-B3FB-4C41-A42E-24B993917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21296-A4A6-419D-9629-A66A7D4A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10</a:t>
            </a:r>
          </a:p>
        </p:txBody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619125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fbac48fd684694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87D97-BCEE-4BE2-8248-04633A04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4287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395BB8-3DFA-4531-A127-04EB49644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5430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$98.6mm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6B8E0F-2740-48D2-A7DA-086F6A0B6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1452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Cost synergy run-rate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7547D-8DD8-4911-A54F-47318A4E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765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8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4A8BD8-A62D-464F-A74C-8CE91C96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908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$45.9mm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6D2CCF-0E7A-455D-824A-099829E6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6227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Revenue operating contribution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F6857-732C-4E26-9915-DDAE8B821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4D6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F3D6FE-2024-456D-8E72-0B079C48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3855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C00000"/>
                </a:solidFill>
              </a:defRPr>
            </a:pPr>
            <a:r>
              <a:rPr sz="2100" b="1">
                <a:solidFill>
                  <a:srgbClr val="C00000"/>
                </a:solidFill>
              </a:rPr>
              <a:t>$147.9mm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4C4753-96DD-4019-BC64-A5D1C81F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01002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Total integration costs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A6BE54-C679-475F-9F76-B51A2A8C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3714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C9D6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F4F1FB-4BF1-456B-AC13-FACD4577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686300"/>
            <a:ext cx="3486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58.9%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3FBAEA-F799-4F62-88B5-48C55139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057775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666666"/>
                </a:solidFill>
              </a:defRPr>
            </a:pPr>
            <a:r>
              <a:rPr sz="1050" b="1">
                <a:solidFill>
                  <a:srgbClr val="666666"/>
                </a:solidFill>
              </a:rPr>
              <a:t>FY2030 breakeven coverage</a:t>
            </a:r>
          </a:p>
        </p:txBody>
      </p:sp>
    </p:spTree>
    <p:extLst>
      <p:ext uri="{BB962C8B-B14F-4D97-AF65-F5344CB8AC3E}">
        <p14:creationId xmlns:p14="http://schemas.microsoft.com/office/powerpoint/2010/main" val="20063770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F9A954-FA38-4512-81C2-46ABA1CD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A51E4-71B5-4748-83A3-D44E2808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Only the best tested case reaches marginal accretion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441730-6924-48B1-B42B-FC85C4B2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2B0AC-102F-40A4-864A-47105023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F323C-62FF-4560-9D4A-53C1F2E2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11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7239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1047750"/>
                <a:gridCol w="1047750"/>
                <a:gridCol w="1047750"/>
                <a:gridCol w="1047750"/>
                <a:gridCol w="1047750"/>
              </a:tblGrid>
              <a:tr h="55562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Offer / synergy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50%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75%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125%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150%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$76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(5.3%)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(4.0%)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(2.6%)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(1.3%)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6100"/>
                          </a:solidFill>
                        </a:rPr>
                        <a:t>0.1%</a:t>
                      </a:r>
                    </a:p>
                  </a:txBody>
                  <a:tcPr marL="91440" marR="91440" marT="45720" marB="45720">
                    <a:solidFill>
                      <a:srgbClr val="E2F0D9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$78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(5.9%)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(4.5%)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(3.2%)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(1.8%)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(0.5%)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(6.4%)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(5.1%)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7365D"/>
                          </a:solidFill>
                        </a:rPr>
                        <a:t>(3.7%)</a:t>
                      </a:r>
                    </a:p>
                  </a:txBody>
                  <a:tcPr marL="91440" marR="91440" marT="45720" marB="45720"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(2.4%)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(1.1%)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$82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(7.0%)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(5.6%)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(4.3%)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(3.0%)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(1.6%)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555625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$84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(7.5%)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(6.2%)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(4.9%)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(3.5%)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(2.2%)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D86A25-5E05-40CE-B7A0-FFB4EA67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428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65D"/>
                </a:solidFill>
              </a:defRPr>
            </a:pPr>
            <a:r>
              <a:rPr sz="1800" b="1">
                <a:solidFill>
                  <a:srgbClr val="17365D"/>
                </a:solidFill>
              </a:rPr>
              <a:t>Decision implications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4A1ABE-F571-4A4A-A102-0C1F9B57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002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BB3AA-FECE-4C6F-AFFF-0729C39F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000250"/>
            <a:ext cx="2590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Base case: 3.7% adjusted dilution.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BEFFD-97DF-41A5-B1E0-233638E7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432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B5A0F-09F1-4009-9E4C-1E7687EF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743200"/>
            <a:ext cx="2590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Best tested case: 0.1% accretion at $76 and 150% synergies.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AD74B8-D35C-4367-9CEF-ECE6324E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4861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FDDFA2-6CDE-409A-BEF4-22A88C34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486150"/>
            <a:ext cx="2590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Financing optimization helps but does not make the base offer accretive.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2514F-B26E-48BF-B763-60194FC2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2291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8"/>
                </a:solidFill>
              </a:defRPr>
            </a:pPr>
            <a:r>
              <a:rPr sz="1350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261921-DE0D-4F60-9FDE-C9940051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229100"/>
            <a:ext cx="2590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111"/>
                </a:solidFill>
              </a:defRPr>
            </a:pPr>
            <a:r>
              <a:rPr sz="1200" b="0">
                <a:solidFill>
                  <a:srgbClr val="111111"/>
                </a:solidFill>
              </a:rPr>
              <a:t>Price discipline remains the strongest controllable lever.</a:t>
            </a:r>
          </a:p>
        </p:txBody>
      </p:sp>
    </p:spTree>
    <p:extLst>
      <p:ext uri="{BB962C8B-B14F-4D97-AF65-F5344CB8AC3E}">
        <p14:creationId xmlns:p14="http://schemas.microsoft.com/office/powerpoint/2010/main" val="13126447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A33B4A-70CE-4CCE-8027-E5B6CD57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7DDC68-4FFC-49B8-A81B-100889C5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Overpayment and synergy execution are the central risks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4D8D9-D1CF-46B8-9AE7-9C485EF4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99B2D8-CC11-41CD-B0C4-C3318B70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07415F-4237-49DB-A9AC-C196AA23D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12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6680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190750"/>
                <a:gridCol w="5619750"/>
              </a:tblGrid>
              <a:tr h="53067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Priority risk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Required diligence</a:t>
                      </a:r>
                    </a:p>
                  </a:txBody>
                  <a:tcPr marL="91440" marR="91440" marT="45720" marB="45720">
                    <a:solidFill>
                      <a:srgbClr val="1F4E78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Valuation / overpayment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High / High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Set walk-away price; separate base and upside synergies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Persistent dilution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High / High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Test structure, financing, and long-term value creation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Revenue synergies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Med-high / High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Named accounts, pipeline evidence, channel conflict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Technology integration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Medium / High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Roadmap, interoperability, engineering retention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Talent / culture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Med-high / High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Retention packages and operating-model governance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Goodwill impairment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Medium / Med-high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11111"/>
                          </a:solidFill>
                        </a:rPr>
                        <a:t>Reporting-unit cash flows and impairment headroom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95759B-5771-40B2-B54A-1DD8645E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66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D6B65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54C565-9E1C-4D29-BBCE-2839CA32A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34025"/>
            <a:ext cx="1019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7365D"/>
                </a:solidFill>
              </a:defRPr>
            </a:pPr>
            <a:r>
              <a:rPr sz="1425" b="1">
                <a:solidFill>
                  <a:srgbClr val="17365D"/>
                </a:solidFill>
              </a:rPr>
              <a:t>Recommendation standard: strategic benefits must be supported by customer-level, product-level, and function-level diligence - not by a top-down synergy plug.</a:t>
            </a:r>
          </a:p>
        </p:txBody>
      </p:sp>
    </p:spTree>
    <p:extLst>
      <p:ext uri="{BB962C8B-B14F-4D97-AF65-F5344CB8AC3E}">
        <p14:creationId xmlns:p14="http://schemas.microsoft.com/office/powerpoint/2010/main" val="5163546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A056D2-8A1C-4416-82BB-6B3F7CF9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solidFill>
              <a:srgbClr val="17365D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69DC61-4908-4AA0-964E-A5332799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7365D"/>
                </a:solidFill>
              </a:defRPr>
            </a:pPr>
            <a:r>
              <a:rPr sz="2625" b="1">
                <a:solidFill>
                  <a:srgbClr val="17365D"/>
                </a:solidFill>
              </a:rPr>
              <a:t>Rockwell should preserve price discipline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52CAE-2939-4C04-8818-6DDFCBC67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E78"/>
          </a:solidFill>
          <a:ln xmlns:a="http://schemas.openxmlformats.org/drawingml/2006/main" w="0">
            <a:solidFill>
              <a:srgbClr val="1F4E7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18165E-5AD6-48C3-98F2-19911E25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66666"/>
                </a:solidFill>
              </a:defRPr>
            </a:pPr>
            <a:r>
              <a:rPr sz="750" b="1">
                <a:solidFill>
                  <a:srgbClr val="666666"/>
                </a:solidFill>
              </a:rPr>
              <a:t>HYPOTHETICAL / EDUCATIONAL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09F4A-7A7B-4F84-9E41-66101D83D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666666"/>
                </a:solidFill>
              </a:defRPr>
            </a:pPr>
            <a:r>
              <a:rPr sz="825" b="0">
                <a:solidFill>
                  <a:srgbClr val="666666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0266AE-1D2E-4352-8E14-47CB6B52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65D"/>
                </a:solidFill>
              </a:defRPr>
            </a:pPr>
            <a:r>
              <a:rPr sz="2100" b="1">
                <a:solidFill>
                  <a:srgbClr val="17365D"/>
                </a:solidFill>
              </a:rPr>
              <a:t>Base recommendation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5A7C6A-8659-40BB-BAFE-A24CC934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668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4D6"/>
          </a:solidFill>
          <a:ln xmlns:a="http://schemas.openxmlformats.org/drawingml/2006/main" w="9525">
            <a:solidFill>
              <a:srgbClr val="C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90EF97-2A7B-4BCE-8E06-DE718F93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47875"/>
            <a:ext cx="1019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C00000"/>
                </a:solidFill>
              </a:defRPr>
            </a:pPr>
            <a:r>
              <a:rPr sz="1950" b="1">
                <a:solidFill>
                  <a:srgbClr val="C00000"/>
                </a:solidFill>
              </a:rPr>
              <a:t>Do not recommend the $80 offer solely on the current financial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9B481-C53E-4C32-8CFC-B1E727DEC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65D"/>
                </a:solidFill>
              </a:defRPr>
            </a:pPr>
            <a:r>
              <a:rPr sz="1800" b="1">
                <a:solidFill>
                  <a:srgbClr val="17365D"/>
                </a:solidFill>
              </a:rPr>
              <a:t>Conditions that could support proceeding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CBE833-F223-4ABE-8B99-0AC992C1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316A49-04A0-480C-8517-3F95D194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4686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 materially lower negotiated purchase price.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76D6F8-D82E-42D1-912B-E912AC50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130B6E-2AA8-4A7D-9F25-734485002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9575"/>
            <a:ext cx="4686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Customer-backed evidence supporting revenue synergies.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4D941E-D6C7-4B9A-86B0-EB78E9D1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04087-760C-4D95-A684-C5707E31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4686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Integration plans that protect product innovation and key talent.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B6675-2FD5-493F-95F7-65295584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CB0735-6BA0-4181-B750-EAF21C3C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46863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Board acceptance of near-term dilution for defensible long-term strategic value.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3B21C7-14B1-413C-9329-57C7BB59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432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365D"/>
                </a:solidFill>
              </a:defRPr>
            </a:pPr>
            <a:r>
              <a:rPr sz="1800" b="1">
                <a:solidFill>
                  <a:srgbClr val="17365D"/>
                </a:solidFill>
              </a:rPr>
              <a:t>What the analysis demonstrates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FA09D9-AD0E-43BB-813F-AFE316D5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3855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0B9C49-C459-46EC-BDB6-6D8CD214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4495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Standalone valuation and offer-price framing.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50BE11-B059-4417-9F52-F7EB216D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C34F69-5615-426D-9989-16F4C10D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4495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Sources and uses, financing, and purchase accounting.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B98B65-C278-4E74-80F7-A08C2C8E5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00600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22D20-BE7D-44E0-94D9-B0ABDBBB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00600"/>
            <a:ext cx="4495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Accretion/dilution and breakeven synergies.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3913C0-9E22-4D5E-9471-249B0349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81625"/>
            <a:ext cx="228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F4E78"/>
                </a:solidFill>
              </a:defRPr>
            </a:pPr>
            <a:r>
              <a:rPr sz="1425" b="1">
                <a:solidFill>
                  <a:srgbClr val="1F4E78"/>
                </a:solidFill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1ADE16-B0F9-452E-B838-B797C53BE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381625"/>
            <a:ext cx="4495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111"/>
                </a:solidFill>
              </a:defRPr>
            </a:pPr>
            <a:r>
              <a:rPr sz="1275" b="0">
                <a:solidFill>
                  <a:srgbClr val="111111"/>
                </a:solidFill>
              </a:rPr>
              <a:t>Bottom-up synergy underwriting, sensitivities, and transaction risks.</a:t>
            </a:r>
          </a:p>
        </p:txBody>
      </p:sp>
    </p:spTree>
    <p:extLst>
      <p:ext uri="{BB962C8B-B14F-4D97-AF65-F5344CB8AC3E}">
        <p14:creationId xmlns:p14="http://schemas.microsoft.com/office/powerpoint/2010/main" val="1599433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2026-08-22T19:04:06.8240000Z</dcterms:created>
  <dcterms:modified xsi:type="dcterms:W3CDTF">2026-08-22T19:04:06.8240000Z</dcterms:modified>
</coreProperties>
</file>